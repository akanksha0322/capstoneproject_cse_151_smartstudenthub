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4" r:id="rId5"/>
    <p:sldId id="279" r:id="rId6"/>
    <p:sldId id="276" r:id="rId7"/>
    <p:sldId id="271" r:id="rId8"/>
    <p:sldId id="272" r:id="rId9"/>
    <p:sldId id="273" r:id="rId10"/>
    <p:sldId id="278" r:id="rId11"/>
    <p:sldId id="268" r:id="rId12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82B30-B085-482A-BCA3-98BA9D893827}" v="117" dt="2025-08-12T17:14:34.866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496EE73-102D-60C3-DBAA-99DCDFC3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EE98A65-8B85-20B0-4099-EBF9C9A00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17085C3-15A9-0FD7-9233-B0F948B3A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206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2CCD5838-2A82-862A-0EC5-C4406ECF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E97A8BD-57B7-1AA6-9D02-25A670AEE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971BABF-7FC1-2B43-1075-A44CFCBCD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394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3DA38F0-7FB7-1DA3-E7C6-9CBDCEBDC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F427E61-383B-7FA7-0000-1EBF1F703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0D6BBBA5-3A8F-E9F9-F6FB-5B05DF6AFA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525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hyperlink" Target="https://github.com/akanksha0322/CapstoneProject_CSE_151_SmartStudentHub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38342446_Development_of_Student_Performance_Tracking_Apps" TargetMode="External"/><Relationship Id="rId7" Type="http://schemas.openxmlformats.org/officeDocument/2006/relationships/hyperlink" Target="https://www.researchgate.net/publication/389430770_Review_on_Student_Activities_Monitoring_Syste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38048191_Mixed-Method_Study_of_Utilizing_Portfolios_to_Document_and_Assess_Co-Curricular_Activities_Student_and_Advisor_Perceptions" TargetMode="External"/><Relationship Id="rId5" Type="http://schemas.openxmlformats.org/officeDocument/2006/relationships/hyperlink" Target="https://www.researchgate.net/publication/373127588_The_Contribution_of_Digital_Portfolios_to_Higher_Education_Students%27_Autonomy_and_Digital_Competence" TargetMode="External"/><Relationship Id="rId4" Type="http://schemas.openxmlformats.org/officeDocument/2006/relationships/hyperlink" Target="https://www.researchgate.net/publication/347529504_Student%27s_Digital_Portfolio_for_Assessing_and_Presenting_Talents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8" y="1069102"/>
            <a:ext cx="10715731" cy="7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Centralised Digital Platform for Comprehensive student activity record in  </a:t>
            </a:r>
            <a:r>
              <a:rPr lang="en-IN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Higher Education Institutions (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HEIs)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230980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CSE_151</a:t>
            </a:r>
            <a:endParaRPr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4" y="2513340"/>
            <a:ext cx="5542087" cy="17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Guide: Ms. Riya Sanjesh</a:t>
            </a: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(Computer Science and Engineering)</a:t>
            </a: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342539417"/>
              </p:ext>
            </p:extLst>
          </p:nvPr>
        </p:nvGraphicFramePr>
        <p:xfrm>
          <a:off x="553347" y="2721840"/>
          <a:ext cx="5390253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74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6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01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0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0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0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0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0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17365D"/>
              </a:buClr>
              <a:buSzPct val="100000"/>
            </a:pPr>
            <a:r>
              <a:rPr lang="en-IN" sz="1800" b="1" dirty="0">
                <a:solidFill>
                  <a:srgbClr val="4E658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CSE7302</a:t>
            </a:r>
            <a:r>
              <a:rPr lang="en-IN" sz="1800" dirty="0"/>
              <a:t> 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800" b="1" i="0" u="none" strike="noStrike" cap="none" dirty="0">
                <a:solidFill>
                  <a:srgbClr val="4E6583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Capstone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790468" y="4533900"/>
            <a:ext cx="10715731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 7101 Capstone Project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Semester VIII)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 , Dr. Blessed Prince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Ravi, Mr.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F61C67-D19F-D24A-F1AD-185A1E5C3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827766"/>
              </p:ext>
            </p:extLst>
          </p:nvPr>
        </p:nvGraphicFramePr>
        <p:xfrm>
          <a:off x="790467" y="3154680"/>
          <a:ext cx="5689727" cy="1127760"/>
        </p:xfrm>
        <a:graphic>
          <a:graphicData uri="http://schemas.openxmlformats.org/drawingml/2006/table">
            <a:tbl>
              <a:tblPr firstRow="1" bandRow="1">
                <a:tableStyleId>{57690726-49DA-4552-BDEB-330DD8EA8BD9}</a:tableStyleId>
              </a:tblPr>
              <a:tblGrid>
                <a:gridCol w="2464534">
                  <a:extLst>
                    <a:ext uri="{9D8B030D-6E8A-4147-A177-3AD203B41FA5}">
                      <a16:colId xmlns:a16="http://schemas.microsoft.com/office/drawing/2014/main" val="1701904525"/>
                    </a:ext>
                  </a:extLst>
                </a:gridCol>
                <a:gridCol w="3225193">
                  <a:extLst>
                    <a:ext uri="{9D8B030D-6E8A-4147-A177-3AD203B41FA5}">
                      <a16:colId xmlns:a16="http://schemas.microsoft.com/office/drawing/2014/main" val="3146968307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Kothareddy Vamshidhar Reddy</a:t>
                      </a:r>
                    </a:p>
                  </a:txBody>
                  <a:tcPr marL="7620" marR="7620" marT="7620" anchor="ctr"/>
                </a:tc>
                <a:extLst>
                  <a:ext uri="{0D108BD9-81ED-4DB2-BD59-A6C34878D82A}">
                    <a16:rowId xmlns:a16="http://schemas.microsoft.com/office/drawing/2014/main" val="261905024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Abhiram PB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434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Akanksha Bhartiya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3721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SIH25093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Government of Jammu and Kashmir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15240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750" dirty="0">
                <a:latin typeface="Cambria" panose="02040503050406030204" pitchFamily="18" charset="0"/>
                <a:ea typeface="Cambria" panose="02040503050406030204" pitchFamily="18" charset="0"/>
              </a:rPr>
              <a:t>There is currently no unified digital system that allows Higher Education Institutions to systematically capture, verify, track, and present a student’s complete academic and non-academic record throughout their academic tenure. Students lack a credible, verified digital profile that can support placements, higher education admissions, scholarships, and skill recognition. Faculty and administrators face additional workload due to repetitive documentation, manual validation, and report generation.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84D871-01F3-CF93-3C93-B2D5A7174BBB}"/>
              </a:ext>
            </a:extLst>
          </p:cNvPr>
          <p:cNvSpPr txBox="1"/>
          <p:nvPr/>
        </p:nvSpPr>
        <p:spPr>
          <a:xfrm>
            <a:off x="812800" y="1214352"/>
            <a:ext cx="10871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Higher Education Institutions (HEIs) currently store student academic and non-academic records across multiple systems, departments, and paper files. Important data such as workshops, certifications, internships, competitions, club activities, and community service is not maintained in a single verified system.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Because of this: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Students do not have a complete digital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Faculty and administrators spend extra time on manual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Institutions face difficulties during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NAAC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AICTE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NIRF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reporting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There is a strong need for a centralized, secure, and verified digital platform that maintains the complete student lifecycle from admission to graduation.</a:t>
            </a: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8765F2E-6A00-C447-2033-5CFC60E0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A971F3F4-3D3C-9BDB-5D5C-6F01FBED6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00" y="29542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Objectives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1CCE86-61E0-26A4-1D7A-03376538CAB2}"/>
              </a:ext>
            </a:extLst>
          </p:cNvPr>
          <p:cNvSpPr txBox="1"/>
          <p:nvPr/>
        </p:nvSpPr>
        <p:spPr>
          <a:xfrm>
            <a:off x="812800" y="1280160"/>
            <a:ext cx="1066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5BB3F56-C1F5-2E6A-846D-F9F11E946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73432"/>
            <a:ext cx="10492509" cy="369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Digitize and centralize academic and co-curricular student records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 a verified student profile from the time of admission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Reduce dependency on paper-based documentation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Enable faculty to monitor and mentor students effectively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 fast and accurate accreditation reporting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Prepare students with verified profiles for placements and higher studies</a:t>
            </a:r>
          </a:p>
        </p:txBody>
      </p:sp>
    </p:spTree>
    <p:extLst>
      <p:ext uri="{BB962C8B-B14F-4D97-AF65-F5344CB8AC3E}">
        <p14:creationId xmlns:p14="http://schemas.microsoft.com/office/powerpoint/2010/main" val="139959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01A3682-BB27-A6CA-5A3F-7390B08A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2A57D0A7-3C38-A58C-CC58-9581EADFC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/>
              <a:t>Background and Related Work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92E79-8291-662D-A998-1F621A8E0C27}"/>
              </a:ext>
            </a:extLst>
          </p:cNvPr>
          <p:cNvSpPr txBox="1"/>
          <p:nvPr/>
        </p:nvSpPr>
        <p:spPr>
          <a:xfrm>
            <a:off x="812800" y="1219200"/>
            <a:ext cx="10617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project lies in the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Educational Technology (EdTech)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domain, focusing on managing student academic and co-curricular records in Higher Education Institutions.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Existing systems such as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ERP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LMS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handle marks, attendance, and learning content, but they do not capture a student’s full development. Records related to internships, certifications, events, clubs, and community service are usually stored in separate tools or physical files.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There is no unified platform that connects academic and non-academic records with faculty verification and portfolio generation. This gap limits transparency, student visibility, and institutional efficiency.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Title Justification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title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“Smart Student Hub”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reflects a centralized system that connects students, faculty, and administrators for complete and verified student record management.</a:t>
            </a:r>
          </a:p>
        </p:txBody>
      </p:sp>
    </p:spTree>
    <p:extLst>
      <p:ext uri="{BB962C8B-B14F-4D97-AF65-F5344CB8AC3E}">
        <p14:creationId xmlns:p14="http://schemas.microsoft.com/office/powerpoint/2010/main" val="393219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966354"/>
            <a:ext cx="10668000" cy="5070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Existing Solutions</a:t>
            </a:r>
          </a:p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Most institutions depend on:</a:t>
            </a:r>
          </a:p>
          <a:p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ERP systems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for marks and attendance</a:t>
            </a:r>
          </a:p>
          <a:p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LMS platforms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for course delivery</a:t>
            </a:r>
          </a:p>
          <a:p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Manual records or isolated tools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for co-curricular and extra-curricular activities</a:t>
            </a:r>
          </a:p>
          <a:p>
            <a:pPr marL="76200" indent="0">
              <a:buNone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These systems work in isolation and do not provide a unified or verified view of a student’s overall development.</a:t>
            </a:r>
          </a:p>
          <a:p>
            <a:pPr marL="76200" indent="0">
              <a:buNone/>
            </a:pP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Limitations Identified</a:t>
            </a:r>
          </a:p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Academic and non-academic records are not linked</a:t>
            </a:r>
          </a:p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Absence of a centralized student profile</a:t>
            </a:r>
          </a:p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Lack of faculty validation reduces record reliability</a:t>
            </a:r>
          </a:p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Manual data compilation for NAAC, AICTE, and NIRF reporting</a:t>
            </a:r>
          </a:p>
          <a:p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Students lack a credible portfolio for placements and higher studies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Requirements: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IDE: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Visual Studio Code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Runtime Environment: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Node.js (v18.x or later)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Frontend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Next.js (TypeScript), Tailwind CSS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Backend: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MongoDB Server / MongoDB Atlas (Cloud)</a:t>
            </a: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Email Service: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Brevo API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Authentication: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JWT (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HttpOnly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cookies),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bcrypt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API Testing: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Postman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Design &amp; Prototyping: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Figma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Version Control: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Git/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58800" lvl="1" indent="0">
              <a:buNone/>
            </a:pP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Requirements: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58800" lvl="1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No specialized hardware is required. A standard developer laptop with at least 8GB RAM and an internet connection is sufficient for development and deployment.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759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Smart Student Hub addresses these gaps by offering a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centralized, verified, and role-based platform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that manages the full student lifecycle.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 chosen technology stack directly supports this goal: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Next.js (TypeScript, Tailwind CSS)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enables a fast, responsive dashboard for students and faculty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MongoDB / MongoDB Atlas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allows flexible storage of diverse academic and activity records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JWT-based authentication with </a:t>
            </a:r>
            <a:r>
              <a:rPr lang="en-US" sz="1800" b="1" dirty="0" err="1">
                <a:latin typeface="Cambria" panose="02040503050406030204" pitchFamily="18" charset="0"/>
                <a:ea typeface="Cambria" panose="02040503050406030204" pitchFamily="18" charset="0"/>
              </a:rPr>
              <a:t>HttpOnly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cookies and </a:t>
            </a:r>
            <a:r>
              <a:rPr lang="en-US" sz="1800" b="1" dirty="0" err="1">
                <a:latin typeface="Cambria" panose="02040503050406030204" pitchFamily="18" charset="0"/>
                <a:ea typeface="Cambria" panose="02040503050406030204" pitchFamily="18" charset="0"/>
              </a:rPr>
              <a:t>bcrypt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ensures secure access and data integrity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Brevo Email API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supports secure onboarding and record-related notifications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Postman and Git/GitHub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support reliable development and collaboration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Figma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enables clear UI design for usability across users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Existing solutions store data in silos, whereas Smart Student Hub integrates, verifies, and presents student achievements in a single platform. By using a modern, scalable, and secure technology stack, the system reduces administrative effort, improves transparency, and prepares students with verified profiles for academic and professional growth.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2320D21-1728-1A04-B1E0-231E2857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80D1953-4FE6-9288-77AF-7CA39B8042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4826" y="280555"/>
            <a:ext cx="9941330" cy="100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/>
              <a:t>Innovation or Novel Contributions</a:t>
            </a:r>
            <a:br>
              <a:rPr lang="en-IN" dirty="0"/>
            </a:b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C64DDB-3242-D058-73F0-0D4FAD35F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1120695"/>
            <a:ext cx="1065784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Unified Student Profile System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Introduces a single digital profile that combines academic performance with co-curricular and extra-curricular achievements across the entire student lifecycle.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Faculty-Verified Activity Records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Adds a structured faculty/admin approval workflow to validate student-submitted activities, improving data credibility and trust.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Auto-Generated Digital Portfolios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students to generate verified portfolios in PDF or shareable link format for placements, scholarships, and higher studies.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Accreditation-Ready Analytics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institution-level analytics and structured reports tailored for NAAC, AICTE, and NIRF requirements, reducing manual reporting effort.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Role-Based, Secure Access Model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 role-specific dashboards (Student, Faculty, Admin) with secure authentication to protect sensitive academic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 and Scalable Architecture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using modern web technologies to support easy integration with existing ERP, LMS, and digital university platforms.</a:t>
            </a:r>
          </a:p>
        </p:txBody>
      </p:sp>
    </p:spTree>
    <p:extLst>
      <p:ext uri="{BB962C8B-B14F-4D97-AF65-F5344CB8AC3E}">
        <p14:creationId xmlns:p14="http://schemas.microsoft.com/office/powerpoint/2010/main" val="324534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762000" y="1143001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https://github.com/akanksha0322/CapstoneProject_CSE_151_SmartStudentHub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2D729-355B-66D2-1785-3E5087FFF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826" y="1124296"/>
            <a:ext cx="7803573" cy="468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[1] S. R. Kumbhar and P. R. Patil, “Development of Student Performance Tracking Apps,” </a:t>
            </a:r>
            <a:r>
              <a:rPr lang="en-IN" sz="15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Innovative Research in Science, Engineering and Technology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, 2020.</a:t>
            </a:r>
            <a:b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Available: 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https://www.researchgate.net/publication/338342446_Development_of_Student_Performance_Tracking_Apps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[2] M. Alqahtani, “Student’s Digital Portfolio for Assessing and Presenting Talents,” </a:t>
            </a:r>
            <a:r>
              <a:rPr lang="en-IN" sz="15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Emerging Technologies in Learning (</a:t>
            </a:r>
            <a:r>
              <a:rPr lang="en-IN" sz="1500" i="1" dirty="0" err="1">
                <a:latin typeface="Cambria" panose="02040503050406030204" pitchFamily="18" charset="0"/>
                <a:ea typeface="Cambria" panose="02040503050406030204" pitchFamily="18" charset="0"/>
              </a:rPr>
              <a:t>iJET</a:t>
            </a:r>
            <a:r>
              <a:rPr lang="en-IN" sz="1500" i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, 2020.</a:t>
            </a:r>
            <a:b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Available:</a:t>
            </a:r>
            <a:r>
              <a:rPr lang="en-IN" sz="1500" dirty="0" err="1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://www.researchgate.net/publication/347529504_Student%27s_Digital_Portfolio_for_Assessing_and_Presenting_Talents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[3] M. González-Calatayud, J. Prendes-Espinosa, and P. Roig-Vila, “The Contribution of Digital Portfolios to Higher Education Students’ Autonomy and Digital Competence,” </a:t>
            </a:r>
            <a:r>
              <a:rPr lang="en-IN" sz="1500" i="1" dirty="0">
                <a:latin typeface="Cambria" panose="02040503050406030204" pitchFamily="18" charset="0"/>
                <a:ea typeface="Cambria" panose="02040503050406030204" pitchFamily="18" charset="0"/>
              </a:rPr>
              <a:t>Education Sciences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, vol. 13, no. 8, p. 829, Aug. 2023, </a:t>
            </a:r>
            <a:r>
              <a:rPr lang="en-IN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: 10.3390/educsci13080829.</a:t>
            </a:r>
            <a:b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Available: 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https://www.researchgate.net/publication/373127588_The_Contribution_of_Digital_Portfolios_to_Higher_Education_Students%27_Autonomy_and_Digital_Competence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[4] J. L. D. Silva, R. L. Santos, and A. P. Costa, “Mixed-Method Study of Utilizing Portfolios to Document and Assess Co-Curricular Activities: Student and Advisor Perceptions,” </a:t>
            </a:r>
            <a:r>
              <a:rPr lang="en-IN" sz="1500" i="1" dirty="0">
                <a:latin typeface="Cambria" panose="02040503050406030204" pitchFamily="18" charset="0"/>
                <a:ea typeface="Cambria" panose="02040503050406030204" pitchFamily="18" charset="0"/>
              </a:rPr>
              <a:t>Journal of Educational Technology Systems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, 2019.</a:t>
            </a:r>
            <a:b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Available: 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https://www.researchgate.net/publication/338048191_Mixed-Method_Study_of_Utilizing_Portfolios_to_Document_and_Assess_Co-Curricular_Activities_Student_and_Advisor_Perceptions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[5] A. Sharma and R. Verma, “Review on Student Activities Monitoring System,” </a:t>
            </a:r>
            <a:r>
              <a:rPr lang="en-IN" sz="15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for Research in Applied Science &amp; Engineering Technology (IJRASET)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, 2024.</a:t>
            </a:r>
            <a:b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Available: </a:t>
            </a: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https://www.researchgate.net/publication/389430770_Review_on_Student_Activities_Monitoring_System</a:t>
            </a:r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760</TotalTime>
  <Words>1485</Words>
  <Application>Microsoft Office PowerPoint</Application>
  <PresentationFormat>Widescreen</PresentationFormat>
  <Paragraphs>129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</vt:lpstr>
      <vt:lpstr>Courier New</vt:lpstr>
      <vt:lpstr>Verdana</vt:lpstr>
      <vt:lpstr>Wingdings</vt:lpstr>
      <vt:lpstr>Bioinformatics</vt:lpstr>
      <vt:lpstr>Centralised Digital Platform for Comprehensive student activity record in  Higher Education Institutions (HEIs)</vt:lpstr>
      <vt:lpstr>Problem Statement Number: SIH25093</vt:lpstr>
      <vt:lpstr>Content</vt:lpstr>
      <vt:lpstr>Problem Statement</vt:lpstr>
      <vt:lpstr>Objectives </vt:lpstr>
      <vt:lpstr>Background and Related Work</vt:lpstr>
      <vt:lpstr>Analysis of Problem Statement (contd...)</vt:lpstr>
      <vt:lpstr>Analysis of Problem Statement (contd...)</vt:lpstr>
      <vt:lpstr>Analysis of Problem Statement</vt:lpstr>
      <vt:lpstr>Innovation or Novel Contributions  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AKANKSHA BHARTIYA</cp:lastModifiedBy>
  <cp:revision>41</cp:revision>
  <dcterms:modified xsi:type="dcterms:W3CDTF">2026-01-09T16:29:29Z</dcterms:modified>
</cp:coreProperties>
</file>