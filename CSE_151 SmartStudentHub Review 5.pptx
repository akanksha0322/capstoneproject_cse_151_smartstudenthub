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3.xml" ContentType="application/vnd.openxmlformats-officedocument.themeOverride+xml"/>
  <Override PartName="/ppt/notesSlides/notesSlide18.xml" ContentType="application/vnd.openxmlformats-officedocument.presentationml.notesSlide+xml"/>
  <Override PartName="/ppt/theme/themeOverride4.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69" r:id="rId3"/>
    <p:sldId id="257" r:id="rId4"/>
    <p:sldId id="274" r:id="rId5"/>
    <p:sldId id="279" r:id="rId6"/>
    <p:sldId id="280" r:id="rId7"/>
    <p:sldId id="284" r:id="rId8"/>
    <p:sldId id="281" r:id="rId9"/>
    <p:sldId id="286" r:id="rId10"/>
    <p:sldId id="285" r:id="rId11"/>
    <p:sldId id="276" r:id="rId12"/>
    <p:sldId id="271" r:id="rId13"/>
    <p:sldId id="272" r:id="rId14"/>
    <p:sldId id="273" r:id="rId15"/>
    <p:sldId id="268" r:id="rId16"/>
    <p:sldId id="283" r:id="rId17"/>
    <p:sldId id="278" r:id="rId18"/>
    <p:sldId id="282" r:id="rId19"/>
    <p:sldId id="270" r:id="rId20"/>
    <p:sldId id="26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5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496EE73-102D-60C3-DBAA-99DCDFC3306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EE98A65-8B85-20B0-4099-EBF9C9A007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17085C3-15A9-0FD7-9233-B0F948B3A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2320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8B4CAC7-90E7-BF7F-E439-2E0D96F96B2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D2BB6F6-500D-BCFC-8D93-D595173F4B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A197B17-0D02-B3F8-6E9E-494F4D5C0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66347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71B2873-F367-35F1-9B1E-92D12B26103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877C395-446B-543D-379C-62DB1F0D8C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45036FF-EA92-503F-587B-1BDD34D8DC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60058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27F841B-7274-9269-24B1-9C6267C712F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0826F3F-3208-4506-9628-A999833F9B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8459991-906D-C29A-2E36-21DFD33D5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77655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CE0DB6E-CECF-7DA5-2CB0-D2606313DB8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D988C54-0956-CEE6-A5EB-4B5CC034E7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985A5D1-A0D2-C485-211D-5832D2058A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93595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FE26525-6CFC-17B9-3536-B71CC4F5B6D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5D70C23-8A58-2CBB-3AE8-70DD4C3894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00D6153-F8AB-D96D-5569-D4CBD8263A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99978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CCD5838-2A82-862A-0EC5-C4406ECF249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E97A8BD-57B7-1AA6-9D02-25A670AEEB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971BABF-7FC1-2B43-1075-A44CFCBCDC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29394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DE9C2A9-2B06-D59B-2B1D-3DF94A59BDF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9DCBF00-2263-7A57-FB71-D53D291CAF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894B381D-0363-EB4C-3E44-47A6A2D39C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89643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3DA38F0-7FB7-1DA3-E7C6-9CBDCEBDCCD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F427E61-383B-7FA7-0000-1EBF1F7036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D6BBBA5-3A8F-E9F9-F6FB-5B05DF6AFA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65525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2250A16-2E1D-7E23-EE31-36DF7916874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FD164772-11B4-0001-7570-5F7C2C7D67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C67B7C6-B49C-DEA8-6402-C2AE3373DB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21521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ublication/228350576_E-Portfolios_Digital_Stories_of_Deep_Learning" TargetMode="External" /><Relationship Id="rId7" Type="http://schemas.openxmlformats.org/officeDocument/2006/relationships/hyperlink" Target="https://www.researchgate.net/publication/333946389" TargetMode="External"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hyperlink" Target="https://www.researchgate.net/publication/242720694_An_Overview_of_E-Portfolios" TargetMode="External" /><Relationship Id="rId5" Type="http://schemas.openxmlformats.org/officeDocument/2006/relationships/hyperlink" Target="https://www.researchgate.net/publication/228709146_Directions_for_Research_and_Development_on_Electronic_Portfolios" TargetMode="External" /><Relationship Id="rId4" Type="http://schemas.openxmlformats.org/officeDocument/2006/relationships/hyperlink" Target="https://www.researchgate.net/publication/228623407_Towards_the_mature_ePortfolio" TargetMode="External" /></Relationships>
</file>

<file path=ppt/slides/_rels/slide7.xml.rels><?xml version="1.0" encoding="UTF-8" standalone="yes"?>
<Relationships xmlns="http://schemas.openxmlformats.org/package/2006/relationships"><Relationship Id="rId3" Type="http://schemas.openxmlformats.org/officeDocument/2006/relationships/hyperlink" Target="https://www.researchgate.net/publication/315870125" TargetMode="External" /><Relationship Id="rId7" Type="http://schemas.openxmlformats.org/officeDocument/2006/relationships/hyperlink" Target="https://www.researchgate.net/publication/263984640" TargetMode="External" /><Relationship Id="rId2" Type="http://schemas.openxmlformats.org/officeDocument/2006/relationships/notesSlide" Target="../notesSlides/notesSlide7.xml" /><Relationship Id="rId1" Type="http://schemas.openxmlformats.org/officeDocument/2006/relationships/slideLayout" Target="../slideLayouts/slideLayout2.xml" /><Relationship Id="rId6" Type="http://schemas.openxmlformats.org/officeDocument/2006/relationships/hyperlink" Target="https://www.researchgate.net/publication/333365505" TargetMode="External" /><Relationship Id="rId5" Type="http://schemas.openxmlformats.org/officeDocument/2006/relationships/hyperlink" Target="https://www.researchgate.net/publication/280009402" TargetMode="External" /><Relationship Id="rId4" Type="http://schemas.openxmlformats.org/officeDocument/2006/relationships/hyperlink" Target="https://www.researchgate.net/publication/326532941" TargetMode="Externa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 /><Relationship Id="rId2" Type="http://schemas.openxmlformats.org/officeDocument/2006/relationships/slideLayout" Target="../slideLayouts/slideLayout2.xml" /><Relationship Id="rId1" Type="http://schemas.openxmlformats.org/officeDocument/2006/relationships/themeOverride" Target="../theme/themeOverride1.xml" /></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 /><Relationship Id="rId2" Type="http://schemas.openxmlformats.org/officeDocument/2006/relationships/slideLayout" Target="../slideLayouts/slideLayout2.xml" /><Relationship Id="rId1" Type="http://schemas.openxmlformats.org/officeDocument/2006/relationships/themeOverride" Target="../theme/themeOverride2.xml" /><Relationship Id="rId4" Type="http://schemas.openxmlformats.org/officeDocument/2006/relationships/image" Target="../media/image3.jpg"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 /><Relationship Id="rId2" Type="http://schemas.openxmlformats.org/officeDocument/2006/relationships/slideLayout" Target="../slideLayouts/slideLayout2.xml" /><Relationship Id="rId1" Type="http://schemas.openxmlformats.org/officeDocument/2006/relationships/themeOverride" Target="../theme/themeOverride3.xml" /><Relationship Id="rId4" Type="http://schemas.openxmlformats.org/officeDocument/2006/relationships/hyperlink" Target="https://github.com/akanksha0322/CapstoneProject_CSE_151_SmartStudentHub" TargetMode="External" /></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 /><Relationship Id="rId2" Type="http://schemas.openxmlformats.org/officeDocument/2006/relationships/slideLayout" Target="../slideLayouts/slideLayout2.xml" /><Relationship Id="rId1" Type="http://schemas.openxmlformats.org/officeDocument/2006/relationships/themeOverride" Target="../theme/themeOverride4.xml" /><Relationship Id="rId4" Type="http://schemas.openxmlformats.org/officeDocument/2006/relationships/image" Target="../media/image4.jpeg" /></Relationships>
</file>

<file path=ppt/slides/_rels/slide20.xml.rels><?xml version="1.0" encoding="UTF-8" standalone="yes"?>
<Relationships xmlns="http://schemas.openxmlformats.org/package/2006/relationships"><Relationship Id="rId3" Type="http://schemas.openxmlformats.org/officeDocument/2006/relationships/hyperlink" Target="https://www.researchgate.net/publication/338342446_Development_of_Student_Performance_Tracking_Apps" TargetMode="External" /><Relationship Id="rId7" Type="http://schemas.openxmlformats.org/officeDocument/2006/relationships/hyperlink" Target="https://www.researchgate.net/publication/389430770_Review_on_Student_Activities_Monitoring_System" TargetMode="External" /><Relationship Id="rId2" Type="http://schemas.openxmlformats.org/officeDocument/2006/relationships/notesSlide" Target="../notesSlides/notesSlide20.xml" /><Relationship Id="rId1" Type="http://schemas.openxmlformats.org/officeDocument/2006/relationships/slideLayout" Target="../slideLayouts/slideLayout2.xml" /><Relationship Id="rId6" Type="http://schemas.openxmlformats.org/officeDocument/2006/relationships/hyperlink" Target="https://www.researchgate.net/publication/338048191_Mixed-Method_Study_of_Utilizing_Portfolios_to_Document_and_Assess_Co-Curricular_Activities_Student_and_Advisor_Perceptions" TargetMode="External" /><Relationship Id="rId5" Type="http://schemas.openxmlformats.org/officeDocument/2006/relationships/hyperlink" Target="https://www.researchgate.net/publication/373127588_The_Contribution_of_Digital_Portfolios_to_Higher_Education_Students%27_Autonomy_and_Digital_Competence" TargetMode="External" /><Relationship Id="rId4" Type="http://schemas.openxmlformats.org/officeDocument/2006/relationships/hyperlink" Target="https://www.researchgate.net/publication/347529504_Student%27s_Digital_Portfolio_for_Assessing_and_Presenting_Talents?utm_source=chatgpt.com" TargetMode="External" /></Relationships>
</file>

<file path=ppt/slides/_rels/slide2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8" y="1069102"/>
            <a:ext cx="10715731" cy="785750"/>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Centralised Digital Platform for Comprehensive student activity record in  </a:t>
            </a:r>
            <a:r>
              <a:rPr lang="en-IN" sz="2400" dirty="0">
                <a:solidFill>
                  <a:schemeClr val="tx1"/>
                </a:solidFill>
                <a:latin typeface="Cambria" panose="02040503050406030204" pitchFamily="18" charset="0"/>
                <a:ea typeface="Cambria" panose="02040503050406030204" pitchFamily="18" charset="0"/>
              </a:rPr>
              <a:t>Higher Education Institutions (</a:t>
            </a:r>
            <a:r>
              <a:rPr lang="en-US" sz="2400" dirty="0">
                <a:solidFill>
                  <a:schemeClr val="tx1"/>
                </a:solidFill>
                <a:latin typeface="Cambria" panose="02040503050406030204" pitchFamily="18" charset="0"/>
                <a:ea typeface="Cambria" panose="02040503050406030204" pitchFamily="18" charset="0"/>
              </a:rPr>
              <a:t>HEIs)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230980"/>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CSE_151</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4" y="2513340"/>
            <a:ext cx="5542087" cy="17691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lgn="ct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Guide: Ms. Riya Sanjesh</a:t>
            </a:r>
          </a:p>
          <a:p>
            <a:pPr lvl="0" algn="ctr">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(Computer Science and Engineering)</a:t>
            </a:r>
          </a:p>
          <a:p>
            <a:pPr lvl="0" algn="ct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42539417"/>
              </p:ext>
            </p:extLst>
          </p:nvPr>
        </p:nvGraphicFramePr>
        <p:xfrm>
          <a:off x="553347" y="2721840"/>
          <a:ext cx="5390253" cy="2194620"/>
        </p:xfrm>
        <a:graphic>
          <a:graphicData uri="http://schemas.openxmlformats.org/drawingml/2006/table">
            <a:tbl>
              <a:tblPr firstRow="1" bandRow="1">
                <a:noFill/>
                <a:tableStyleId>{57690726-49DA-4552-BDEB-330DD8EA8BD9}</a:tableStyleId>
              </a:tblPr>
              <a:tblGrid>
                <a:gridCol w="2074064">
                  <a:extLst>
                    <a:ext uri="{9D8B030D-6E8A-4147-A177-3AD203B41FA5}">
                      <a16:colId xmlns:a16="http://schemas.microsoft.com/office/drawing/2014/main" val="20000"/>
                    </a:ext>
                  </a:extLst>
                </a:gridCol>
                <a:gridCol w="3316189">
                  <a:extLst>
                    <a:ext uri="{9D8B030D-6E8A-4147-A177-3AD203B41FA5}">
                      <a16:colId xmlns:a16="http://schemas.microsoft.com/office/drawing/2014/main" val="20001"/>
                    </a:ext>
                  </a:extLst>
                </a:gridCol>
              </a:tblGrid>
              <a:tr h="30201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201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IN" sz="1800" b="1" dirty="0">
                <a:solidFill>
                  <a:srgbClr val="4E6583"/>
                </a:solidFill>
                <a:latin typeface="Cambria" panose="02040503050406030204" pitchFamily="18" charset="0"/>
                <a:ea typeface="Cambria" panose="02040503050406030204" pitchFamily="18" charset="0"/>
              </a:rPr>
              <a:t>CSE7302</a:t>
            </a:r>
            <a:r>
              <a:rPr lang="en-IN" sz="1800" dirty="0"/>
              <a:t> </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i="0" u="none" strike="noStrike" cap="none" dirty="0">
                <a:solidFill>
                  <a:srgbClr val="4E6583"/>
                </a:solidFill>
                <a:latin typeface="Cambria" panose="02040503050406030204" pitchFamily="18" charset="0"/>
                <a:ea typeface="Cambria" panose="02040503050406030204" pitchFamily="18" charset="0"/>
                <a:cs typeface="Verdana"/>
                <a:sym typeface="Verdana"/>
              </a:rPr>
              <a:t>Capstone</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790468" y="4533900"/>
            <a:ext cx="1071573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CSE 7101 Capstone Project </a:t>
            </a:r>
            <a:r>
              <a:rPr lang="en-US" sz="1800" b="1" dirty="0">
                <a:solidFill>
                  <a:schemeClr val="tx1"/>
                </a:solidFill>
                <a:latin typeface="Cambria" panose="02040503050406030204" pitchFamily="18" charset="0"/>
                <a:ea typeface="Cambria" panose="02040503050406030204" pitchFamily="18" charset="0"/>
                <a:cs typeface="Verdana"/>
                <a:sym typeface="Verdana"/>
              </a:rPr>
              <a:t>(</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Semester VIII) </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Dr. Asif Mohammed , 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Jayavadivel</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Ravi, Mr.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Muthuraju</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V</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p>
        </p:txBody>
      </p:sp>
      <p:graphicFrame>
        <p:nvGraphicFramePr>
          <p:cNvPr id="2" name="Table 1">
            <a:extLst>
              <a:ext uri="{FF2B5EF4-FFF2-40B4-BE49-F238E27FC236}">
                <a16:creationId xmlns:a16="http://schemas.microsoft.com/office/drawing/2014/main" id="{D7F61C67-D19F-D24A-F1AD-185A1E5C3829}"/>
              </a:ext>
            </a:extLst>
          </p:cNvPr>
          <p:cNvGraphicFramePr>
            <a:graphicFrameLocks noGrp="1"/>
          </p:cNvGraphicFramePr>
          <p:nvPr>
            <p:extLst>
              <p:ext uri="{D42A27DB-BD31-4B8C-83A1-F6EECF244321}">
                <p14:modId xmlns:p14="http://schemas.microsoft.com/office/powerpoint/2010/main" val="1024827766"/>
              </p:ext>
            </p:extLst>
          </p:nvPr>
        </p:nvGraphicFramePr>
        <p:xfrm>
          <a:off x="790467" y="3154680"/>
          <a:ext cx="5689727" cy="1127760"/>
        </p:xfrm>
        <a:graphic>
          <a:graphicData uri="http://schemas.openxmlformats.org/drawingml/2006/table">
            <a:tbl>
              <a:tblPr firstRow="1" bandRow="1">
                <a:tableStyleId>{57690726-49DA-4552-BDEB-330DD8EA8BD9}</a:tableStyleId>
              </a:tblPr>
              <a:tblGrid>
                <a:gridCol w="2464534">
                  <a:extLst>
                    <a:ext uri="{9D8B030D-6E8A-4147-A177-3AD203B41FA5}">
                      <a16:colId xmlns:a16="http://schemas.microsoft.com/office/drawing/2014/main" val="1701904525"/>
                    </a:ext>
                  </a:extLst>
                </a:gridCol>
                <a:gridCol w="3225193">
                  <a:extLst>
                    <a:ext uri="{9D8B030D-6E8A-4147-A177-3AD203B41FA5}">
                      <a16:colId xmlns:a16="http://schemas.microsoft.com/office/drawing/2014/main" val="3146968307"/>
                    </a:ext>
                  </a:extLst>
                </a:gridCol>
              </a:tblGrid>
              <a:tr h="375920">
                <a:tc>
                  <a:txBody>
                    <a:bodyPr/>
                    <a:lstStyle/>
                    <a:p>
                      <a:r>
                        <a:rPr lang="en-IN" sz="1600" dirty="0">
                          <a:latin typeface="Cambria" panose="02040503050406030204" pitchFamily="18" charset="0"/>
                          <a:ea typeface="Cambria" panose="02040503050406030204" pitchFamily="18" charset="0"/>
                        </a:rPr>
                        <a:t>20221CSE0005</a:t>
                      </a:r>
                    </a:p>
                  </a:txBody>
                  <a:tcPr/>
                </a:tc>
                <a:tc>
                  <a:txBody>
                    <a:bodyPr/>
                    <a:lstStyle/>
                    <a:p>
                      <a:pPr algn="l" fontAlgn="ctr">
                        <a:buNone/>
                      </a:pPr>
                      <a:r>
                        <a:rPr lang="en-IN" sz="1600" b="0" i="0" u="none" strike="noStrike" dirty="0">
                          <a:solidFill>
                            <a:srgbClr val="000000"/>
                          </a:solidFill>
                          <a:effectLst/>
                          <a:latin typeface="Cambria" panose="02040503050406030204" pitchFamily="18" charset="0"/>
                          <a:ea typeface="Cambria" panose="02040503050406030204" pitchFamily="18" charset="0"/>
                        </a:rPr>
                        <a:t>Kothareddy Vamshidhar Reddy</a:t>
                      </a:r>
                    </a:p>
                  </a:txBody>
                  <a:tcPr marL="7620" marR="7620" marT="7620" anchor="ctr"/>
                </a:tc>
                <a:extLst>
                  <a:ext uri="{0D108BD9-81ED-4DB2-BD59-A6C34878D82A}">
                    <a16:rowId xmlns:a16="http://schemas.microsoft.com/office/drawing/2014/main" val="2619050243"/>
                  </a:ext>
                </a:extLst>
              </a:tr>
              <a:tr h="375920">
                <a:tc>
                  <a:txBody>
                    <a:bodyPr/>
                    <a:lstStyle/>
                    <a:p>
                      <a:r>
                        <a:rPr lang="en-IN" sz="1600" dirty="0">
                          <a:latin typeface="Cambria" panose="02040503050406030204" pitchFamily="18" charset="0"/>
                          <a:ea typeface="Cambria" panose="02040503050406030204" pitchFamily="18" charset="0"/>
                        </a:rPr>
                        <a:t>20221CSE0044</a:t>
                      </a:r>
                    </a:p>
                  </a:txBody>
                  <a:tcPr/>
                </a:tc>
                <a:tc>
                  <a:txBody>
                    <a:bodyPr/>
                    <a:lstStyle/>
                    <a:p>
                      <a:pPr algn="l"/>
                      <a:r>
                        <a:rPr lang="en-IN" sz="1600" dirty="0">
                          <a:latin typeface="Cambria" panose="02040503050406030204" pitchFamily="18" charset="0"/>
                          <a:ea typeface="Cambria" panose="02040503050406030204" pitchFamily="18" charset="0"/>
                        </a:rPr>
                        <a:t>Abhiram PB </a:t>
                      </a:r>
                    </a:p>
                  </a:txBody>
                  <a:tcPr/>
                </a:tc>
                <a:extLst>
                  <a:ext uri="{0D108BD9-81ED-4DB2-BD59-A6C34878D82A}">
                    <a16:rowId xmlns:a16="http://schemas.microsoft.com/office/drawing/2014/main" val="2801743403"/>
                  </a:ext>
                </a:extLst>
              </a:tr>
              <a:tr h="375920">
                <a:tc>
                  <a:txBody>
                    <a:bodyPr/>
                    <a:lstStyle/>
                    <a:p>
                      <a:r>
                        <a:rPr lang="en-IN" sz="1600" dirty="0">
                          <a:latin typeface="Cambria" panose="02040503050406030204" pitchFamily="18" charset="0"/>
                          <a:ea typeface="Cambria" panose="02040503050406030204" pitchFamily="18" charset="0"/>
                        </a:rPr>
                        <a:t>20221CSE0276</a:t>
                      </a:r>
                    </a:p>
                  </a:txBody>
                  <a:tcPr/>
                </a:tc>
                <a:tc>
                  <a:txBody>
                    <a:bodyPr/>
                    <a:lstStyle/>
                    <a:p>
                      <a:pPr algn="l"/>
                      <a:r>
                        <a:rPr lang="en-IN" sz="1600" dirty="0">
                          <a:latin typeface="Cambria" panose="02040503050406030204" pitchFamily="18" charset="0"/>
                          <a:ea typeface="Cambria" panose="02040503050406030204" pitchFamily="18" charset="0"/>
                        </a:rPr>
                        <a:t>Akanksha Bhartiya</a:t>
                      </a:r>
                    </a:p>
                  </a:txBody>
                  <a:tcPr/>
                </a:tc>
                <a:extLst>
                  <a:ext uri="{0D108BD9-81ED-4DB2-BD59-A6C34878D82A}">
                    <a16:rowId xmlns:a16="http://schemas.microsoft.com/office/drawing/2014/main" val="315037212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dirty="0">
                <a:latin typeface="Cambria" panose="02040503050406030204" pitchFamily="18" charset="0"/>
                <a:ea typeface="Cambria" panose="02040503050406030204" pitchFamily="18" charset="0"/>
              </a:rPr>
              <a:t>SIH25093</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US" sz="2200" dirty="0">
                <a:latin typeface="Cambria" panose="02040503050406030204" pitchFamily="18" charset="0"/>
                <a:ea typeface="Cambria" panose="02040503050406030204" pitchFamily="18" charset="0"/>
              </a:rPr>
              <a:t>Government of Jammu and Kashmir</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a:t>
            </a:r>
            <a:r>
              <a:rPr lang="en-US" sz="2200"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152400" indent="0">
              <a:lnSpc>
                <a:spcPct val="200000"/>
              </a:lnSpc>
              <a:spcBef>
                <a:spcPts val="0"/>
              </a:spcBef>
              <a:buNone/>
            </a:pPr>
            <a:r>
              <a:rPr lang="en-US" sz="1750" dirty="0">
                <a:latin typeface="Cambria" panose="02040503050406030204" pitchFamily="18" charset="0"/>
                <a:ea typeface="Cambria" panose="02040503050406030204" pitchFamily="18" charset="0"/>
              </a:rPr>
              <a:t>There is currently no unified digital system that allows Higher Education Institutions to systematically capture, verify, track, and present a student’s complete academic and non-academic record throughout their academic tenure. Students lack a credible, verified digital profile that can support placements, higher education admissions, scholarships, and skill recognition. Faculty and administrators face additional workload due to repetitive documentation, manual validation, and report generation.</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22218"/>
            <a:ext cx="10668000" cy="4873337"/>
          </a:xfrm>
          <a:prstGeom prst="rect">
            <a:avLst/>
          </a:prstGeom>
          <a:noFill/>
          <a:ln>
            <a:noFill/>
          </a:ln>
        </p:spPr>
        <p:txBody>
          <a:bodyPr spcFirstLastPara="1" wrap="square" lIns="91425" tIns="45700" rIns="91425" bIns="45700" anchor="t" anchorCtr="0">
            <a:normAutofit fontScale="32500" lnSpcReduction="20000"/>
          </a:bodyPr>
          <a:lstStyle/>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Research Papers for Literature Survey</a:t>
            </a:r>
          </a:p>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Analysis of Relevant Research Papers</a:t>
            </a:r>
          </a:p>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4800"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4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48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a:t>
            </a:r>
            <a:endParaRPr dirty="0">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D484D871-01F3-CF93-3C93-B2D5A7174BBB}"/>
              </a:ext>
            </a:extLst>
          </p:cNvPr>
          <p:cNvSpPr txBox="1"/>
          <p:nvPr/>
        </p:nvSpPr>
        <p:spPr>
          <a:xfrm>
            <a:off x="812800" y="1214352"/>
            <a:ext cx="10871200" cy="3785652"/>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Higher Education Institutions (HEIs) currently store student academic and non-academic records across multiple systems, departments, and paper files. Important data such as workshops, certifications, internships, competitions, club activities, and community service is not maintained in a single verified system.</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Because of this:</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Students do not have a complete digital profile</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Faculty and administrators spend extra time on manual verification</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Institutions face difficulties during </a:t>
            </a:r>
            <a:r>
              <a:rPr lang="en-US" sz="2000" b="1" dirty="0">
                <a:latin typeface="Cambria" panose="02040503050406030204" pitchFamily="18" charset="0"/>
                <a:ea typeface="Cambria" panose="02040503050406030204" pitchFamily="18" charset="0"/>
              </a:rPr>
              <a:t>NAAC</a:t>
            </a: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AICTE</a:t>
            </a:r>
            <a:r>
              <a:rPr lang="en-US" sz="2000" dirty="0">
                <a:latin typeface="Cambria" panose="02040503050406030204" pitchFamily="18" charset="0"/>
                <a:ea typeface="Cambria" panose="02040503050406030204" pitchFamily="18" charset="0"/>
              </a:rPr>
              <a:t>, and </a:t>
            </a:r>
            <a:r>
              <a:rPr lang="en-US" sz="2000" b="1" dirty="0">
                <a:latin typeface="Cambria" panose="02040503050406030204" pitchFamily="18" charset="0"/>
                <a:ea typeface="Cambria" panose="02040503050406030204" pitchFamily="18" charset="0"/>
              </a:rPr>
              <a:t>NIRF</a:t>
            </a:r>
            <a:r>
              <a:rPr lang="en-US" sz="2000" dirty="0">
                <a:latin typeface="Cambria" panose="02040503050406030204" pitchFamily="18" charset="0"/>
                <a:ea typeface="Cambria" panose="02040503050406030204" pitchFamily="18" charset="0"/>
              </a:rPr>
              <a:t> reporting</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There is a strong need for a centralized, secure, and verified digital platform that maintains the complete student lifecycle from admission to graduation.</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8765F2E-6A00-C447-2033-5CFC60E0C35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971F3F4-3D3C-9BDB-5D5C-6F01FBED6109}"/>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 </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461CCE86-61E0-26A4-1D7A-03376538CAB2}"/>
              </a:ext>
            </a:extLst>
          </p:cNvPr>
          <p:cNvSpPr txBox="1"/>
          <p:nvPr/>
        </p:nvSpPr>
        <p:spPr>
          <a:xfrm>
            <a:off x="812800" y="1280160"/>
            <a:ext cx="10668000" cy="338554"/>
          </a:xfrm>
          <a:prstGeom prst="rect">
            <a:avLst/>
          </a:prstGeom>
          <a:noFill/>
        </p:spPr>
        <p:txBody>
          <a:bodyPr wrap="square" rtlCol="0">
            <a:spAutoFit/>
          </a:bodyPr>
          <a:lstStyle/>
          <a:p>
            <a:endParaRPr lang="en-US" sz="1600" dirty="0"/>
          </a:p>
        </p:txBody>
      </p:sp>
      <p:sp>
        <p:nvSpPr>
          <p:cNvPr id="6" name="Rectangle 4">
            <a:extLst>
              <a:ext uri="{FF2B5EF4-FFF2-40B4-BE49-F238E27FC236}">
                <a16:creationId xmlns:a16="http://schemas.microsoft.com/office/drawing/2014/main" id="{E5BB3F56-C1F5-2E6A-846D-F9F11E946724}"/>
              </a:ext>
            </a:extLst>
          </p:cNvPr>
          <p:cNvSpPr>
            <a:spLocks noChangeArrowheads="1"/>
          </p:cNvSpPr>
          <p:nvPr/>
        </p:nvSpPr>
        <p:spPr bwMode="auto">
          <a:xfrm>
            <a:off x="812800" y="1273432"/>
            <a:ext cx="10492509" cy="369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Digitize and centralize academic and co-curricular student records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verified student profile from the time of admission</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Reduce dependency on paper-based documentation</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Enable faculty to monitor and mentor students effectively</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Support fast and accurate accreditation reporting</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Prepare students with verified profiles for placements and higher studies</a:t>
            </a:r>
          </a:p>
        </p:txBody>
      </p:sp>
    </p:spTree>
    <p:extLst>
      <p:ext uri="{BB962C8B-B14F-4D97-AF65-F5344CB8AC3E}">
        <p14:creationId xmlns:p14="http://schemas.microsoft.com/office/powerpoint/2010/main" val="1399596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033C5CE-DE7F-8FF5-0442-2A0790FFD44C}"/>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AA00A73-F721-348A-4E92-9ECB25BA0314}"/>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Cambria" panose="02040503050406030204" pitchFamily="18" charset="0"/>
                <a:ea typeface="Cambria" panose="02040503050406030204" pitchFamily="18" charset="0"/>
              </a:rPr>
              <a:t>Research Papers for Literature Survey</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B364BD14-6642-E08A-8F7B-52CCEA365968}"/>
              </a:ext>
            </a:extLst>
          </p:cNvPr>
          <p:cNvSpPr txBox="1"/>
          <p:nvPr/>
        </p:nvSpPr>
        <p:spPr>
          <a:xfrm>
            <a:off x="762000" y="937260"/>
            <a:ext cx="10668000" cy="5546198"/>
          </a:xfrm>
          <a:prstGeom prst="rect">
            <a:avLst/>
          </a:prstGeom>
          <a:noFill/>
        </p:spPr>
        <p:txBody>
          <a:bodyPr wrap="square" rtlCol="0">
            <a:spAutoFit/>
          </a:bodyPr>
          <a:lstStyle/>
          <a:p>
            <a:pPr>
              <a:lnSpc>
                <a:spcPct val="150000"/>
              </a:lnSpc>
            </a:pPr>
            <a:r>
              <a:rPr lang="en-IN" sz="1500" b="1" dirty="0">
                <a:latin typeface="Cambria" panose="02040503050406030204" pitchFamily="18" charset="0"/>
                <a:ea typeface="Cambria" panose="02040503050406030204" pitchFamily="18" charset="0"/>
              </a:rPr>
              <a:t>[1] </a:t>
            </a:r>
            <a:r>
              <a:rPr lang="en-IN" sz="1500" dirty="0">
                <a:latin typeface="Cambria" panose="02040503050406030204" pitchFamily="18" charset="0"/>
                <a:ea typeface="Cambria" panose="02040503050406030204" pitchFamily="18" charset="0"/>
              </a:rPr>
              <a:t>R. Barrett, “E-Portfolios: Digital Stories of Deep Learning,” </a:t>
            </a:r>
            <a:r>
              <a:rPr lang="en-IN" sz="1500" i="1" dirty="0">
                <a:latin typeface="Cambria" panose="02040503050406030204" pitchFamily="18" charset="0"/>
                <a:ea typeface="Cambria" panose="02040503050406030204" pitchFamily="18" charset="0"/>
              </a:rPr>
              <a:t>Educause Review</a:t>
            </a:r>
            <a:r>
              <a:rPr lang="en-IN" sz="1500" dirty="0">
                <a:latin typeface="Cambria" panose="02040503050406030204" pitchFamily="18" charset="0"/>
                <a:ea typeface="Cambria" panose="02040503050406030204" pitchFamily="18" charset="0"/>
              </a:rPr>
              <a:t>, vol. 45, no. 4, pp. 18–30, 2010.</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3"/>
              </a:rPr>
              <a:t>https://www.researchgate.net/publication/228350576_E-Portfolios_Digital_Stories_of_Deep_Learning</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[2] </a:t>
            </a:r>
            <a:r>
              <a:rPr lang="en-IN" sz="1500" dirty="0">
                <a:latin typeface="Cambria" panose="02040503050406030204" pitchFamily="18" charset="0"/>
                <a:ea typeface="Cambria" panose="02040503050406030204" pitchFamily="18" charset="0"/>
              </a:rPr>
              <a:t>H. Challis, “Towards the Mature </a:t>
            </a:r>
            <a:r>
              <a:rPr lang="en-IN" sz="1500" dirty="0" err="1">
                <a:latin typeface="Cambria" panose="02040503050406030204" pitchFamily="18" charset="0"/>
                <a:ea typeface="Cambria" panose="02040503050406030204" pitchFamily="18" charset="0"/>
              </a:rPr>
              <a:t>ePortfolio</a:t>
            </a:r>
            <a:r>
              <a:rPr lang="en-IN" sz="1500" dirty="0">
                <a:latin typeface="Cambria" panose="02040503050406030204" pitchFamily="18" charset="0"/>
                <a:ea typeface="Cambria" panose="02040503050406030204" pitchFamily="18" charset="0"/>
              </a:rPr>
              <a:t>: Some Implications for Higher Education,” </a:t>
            </a:r>
            <a:r>
              <a:rPr lang="en-IN" sz="1500" i="1" dirty="0">
                <a:latin typeface="Cambria" panose="02040503050406030204" pitchFamily="18" charset="0"/>
                <a:ea typeface="Cambria" panose="02040503050406030204" pitchFamily="18" charset="0"/>
              </a:rPr>
              <a:t>Canadian Journal of Learning and Technology</a:t>
            </a:r>
            <a:r>
              <a:rPr lang="en-IN" sz="1500" dirty="0">
                <a:latin typeface="Cambria" panose="02040503050406030204" pitchFamily="18" charset="0"/>
                <a:ea typeface="Cambria" panose="02040503050406030204" pitchFamily="18" charset="0"/>
              </a:rPr>
              <a:t>, vol. 31, no. 3, 2005.</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4"/>
              </a:rPr>
              <a:t>https://www.researchgate.net/publication/228623407_Towards_the_mature_ePortfolio</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[3] </a:t>
            </a:r>
            <a:r>
              <a:rPr lang="en-IN" sz="1500" dirty="0">
                <a:latin typeface="Cambria" panose="02040503050406030204" pitchFamily="18" charset="0"/>
                <a:ea typeface="Cambria" panose="02040503050406030204" pitchFamily="18" charset="0"/>
              </a:rPr>
              <a:t>J. Abrami and H. Barrett, “Directions for Research and Development on Electronic Portfolios,” </a:t>
            </a:r>
            <a:r>
              <a:rPr lang="en-IN" sz="1500" i="1" dirty="0">
                <a:latin typeface="Cambria" panose="02040503050406030204" pitchFamily="18" charset="0"/>
                <a:ea typeface="Cambria" panose="02040503050406030204" pitchFamily="18" charset="0"/>
              </a:rPr>
              <a:t>Canadian Journal of Learning and Technology</a:t>
            </a:r>
            <a:r>
              <a:rPr lang="en-IN" sz="1500" dirty="0">
                <a:latin typeface="Cambria" panose="02040503050406030204" pitchFamily="18" charset="0"/>
                <a:ea typeface="Cambria" panose="02040503050406030204" pitchFamily="18" charset="0"/>
              </a:rPr>
              <a:t>, vol. 31, no. 3, 2005.</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5"/>
              </a:rPr>
              <a:t>https://www.researchgate.net/publication/228709146_Directions_for_Research_and_Development_on_Electronic_Portfolios</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[4] </a:t>
            </a:r>
            <a:r>
              <a:rPr lang="en-IN" sz="1500" dirty="0">
                <a:latin typeface="Cambria" panose="02040503050406030204" pitchFamily="18" charset="0"/>
                <a:ea typeface="Cambria" panose="02040503050406030204" pitchFamily="18" charset="0"/>
              </a:rPr>
              <a:t>S. Lorenzo and J. </a:t>
            </a:r>
            <a:r>
              <a:rPr lang="en-IN" sz="1500" dirty="0" err="1">
                <a:latin typeface="Cambria" panose="02040503050406030204" pitchFamily="18" charset="0"/>
                <a:ea typeface="Cambria" panose="02040503050406030204" pitchFamily="18" charset="0"/>
              </a:rPr>
              <a:t>Ittelson</a:t>
            </a:r>
            <a:r>
              <a:rPr lang="en-IN" sz="1500" dirty="0">
                <a:latin typeface="Cambria" panose="02040503050406030204" pitchFamily="18" charset="0"/>
                <a:ea typeface="Cambria" panose="02040503050406030204" pitchFamily="18" charset="0"/>
              </a:rPr>
              <a:t>, “An Overview of E-Portfolios,” </a:t>
            </a:r>
            <a:r>
              <a:rPr lang="en-IN" sz="1500" i="1" dirty="0">
                <a:latin typeface="Cambria" panose="02040503050406030204" pitchFamily="18" charset="0"/>
                <a:ea typeface="Cambria" panose="02040503050406030204" pitchFamily="18" charset="0"/>
              </a:rPr>
              <a:t>EDUCAUSE Learning Initiative</a:t>
            </a:r>
            <a:r>
              <a:rPr lang="en-IN" sz="1500" dirty="0">
                <a:latin typeface="Cambria" panose="02040503050406030204" pitchFamily="18" charset="0"/>
                <a:ea typeface="Cambria" panose="02040503050406030204" pitchFamily="18" charset="0"/>
              </a:rPr>
              <a:t>, no. 1, 2005.</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rgbClr val="0000FF"/>
                </a:solidFill>
                <a:latin typeface="Cambria" panose="02040503050406030204" pitchFamily="18" charset="0"/>
                <a:ea typeface="Cambria" panose="02040503050406030204" pitchFamily="18" charset="0"/>
                <a:hlinkClick r:id="rId6"/>
              </a:rPr>
              <a:t>https://www.researchgate.net/publication/242720694_An_Overview_of_</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6"/>
              </a:rPr>
              <a:t>E-Portfolios</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[5] </a:t>
            </a:r>
            <a:r>
              <a:rPr lang="en-IN" sz="1500" dirty="0">
                <a:latin typeface="Cambria" panose="02040503050406030204" pitchFamily="18" charset="0"/>
                <a:ea typeface="Cambria" panose="02040503050406030204" pitchFamily="18" charset="0"/>
              </a:rPr>
              <a:t>A. </a:t>
            </a:r>
            <a:r>
              <a:rPr lang="en-IN" sz="1500" dirty="0" err="1">
                <a:latin typeface="Cambria" panose="02040503050406030204" pitchFamily="18" charset="0"/>
                <a:ea typeface="Cambria" panose="02040503050406030204" pitchFamily="18" charset="0"/>
              </a:rPr>
              <a:t>Koraneekij</a:t>
            </a:r>
            <a:r>
              <a:rPr lang="en-IN" sz="1500" dirty="0">
                <a:latin typeface="Cambria" panose="02040503050406030204" pitchFamily="18" charset="0"/>
                <a:ea typeface="Cambria" panose="02040503050406030204" pitchFamily="18" charset="0"/>
              </a:rPr>
              <a:t> and S. </a:t>
            </a:r>
            <a:r>
              <a:rPr lang="en-IN" sz="1500" dirty="0" err="1">
                <a:latin typeface="Cambria" panose="02040503050406030204" pitchFamily="18" charset="0"/>
                <a:ea typeface="Cambria" panose="02040503050406030204" pitchFamily="18" charset="0"/>
              </a:rPr>
              <a:t>Khlaisang</a:t>
            </a:r>
            <a:r>
              <a:rPr lang="en-IN" sz="1500" dirty="0">
                <a:latin typeface="Cambria" panose="02040503050406030204" pitchFamily="18" charset="0"/>
                <a:ea typeface="Cambria" panose="02040503050406030204" pitchFamily="18" charset="0"/>
              </a:rPr>
              <a:t>, “Development of an Outcome-Based Learning System Using e-Portfolios,” </a:t>
            </a:r>
            <a:r>
              <a:rPr lang="en-IN" sz="1500" i="1" dirty="0">
                <a:latin typeface="Cambria" panose="02040503050406030204" pitchFamily="18" charset="0"/>
                <a:ea typeface="Cambria" panose="02040503050406030204" pitchFamily="18" charset="0"/>
              </a:rPr>
              <a:t>International Journal of Emerging Technologies in Learning (</a:t>
            </a:r>
            <a:r>
              <a:rPr lang="en-IN" sz="1500" i="1" dirty="0" err="1">
                <a:latin typeface="Cambria" panose="02040503050406030204" pitchFamily="18" charset="0"/>
                <a:ea typeface="Cambria" panose="02040503050406030204" pitchFamily="18" charset="0"/>
              </a:rPr>
              <a:t>iJET</a:t>
            </a:r>
            <a:r>
              <a:rPr lang="en-IN" sz="1500" i="1" dirty="0">
                <a:latin typeface="Cambria" panose="02040503050406030204" pitchFamily="18" charset="0"/>
                <a:ea typeface="Cambria" panose="02040503050406030204" pitchFamily="18" charset="0"/>
              </a:rPr>
              <a:t>)</a:t>
            </a:r>
            <a:r>
              <a:rPr lang="en-IN" sz="1500" dirty="0">
                <a:latin typeface="Cambria" panose="02040503050406030204" pitchFamily="18" charset="0"/>
                <a:ea typeface="Cambria" panose="02040503050406030204" pitchFamily="18" charset="0"/>
              </a:rPr>
              <a:t>, vol. 14, no. 11, pp. 208–223, 2019.</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7"/>
              </a:rPr>
              <a:t>https://www.researchgate.net/publication/333946389</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endParaRPr lang="en-IN"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47122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2D4D407-93C5-28AB-2C33-BC2932ABCF1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2740AD4-E397-AD2F-1680-0689248D6989}"/>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Cambria" panose="02040503050406030204" pitchFamily="18" charset="0"/>
                <a:ea typeface="Cambria" panose="02040503050406030204" pitchFamily="18" charset="0"/>
              </a:rPr>
              <a:t>Research Papers for Literature Survey</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41CC07AA-197A-59F7-67D1-CD3FF4A72DF3}"/>
              </a:ext>
            </a:extLst>
          </p:cNvPr>
          <p:cNvSpPr txBox="1"/>
          <p:nvPr/>
        </p:nvSpPr>
        <p:spPr>
          <a:xfrm>
            <a:off x="762000" y="937260"/>
            <a:ext cx="10668000" cy="5243295"/>
          </a:xfrm>
          <a:prstGeom prst="rect">
            <a:avLst/>
          </a:prstGeom>
          <a:noFill/>
        </p:spPr>
        <p:txBody>
          <a:bodyPr wrap="square" rtlCol="0">
            <a:spAutoFit/>
          </a:bodyPr>
          <a:lstStyle/>
          <a:p>
            <a:pPr>
              <a:lnSpc>
                <a:spcPct val="150000"/>
              </a:lnSpc>
            </a:pPr>
            <a:r>
              <a:rPr lang="en-IN" sz="1500" b="1" dirty="0">
                <a:latin typeface="Cambria" panose="02040503050406030204" pitchFamily="18" charset="0"/>
                <a:ea typeface="Cambria" panose="02040503050406030204" pitchFamily="18" charset="0"/>
              </a:rPr>
              <a:t>[6] </a:t>
            </a:r>
            <a:r>
              <a:rPr lang="en-IN" sz="1500" dirty="0">
                <a:latin typeface="Cambria" panose="02040503050406030204" pitchFamily="18" charset="0"/>
                <a:ea typeface="Cambria" panose="02040503050406030204" pitchFamily="18" charset="0"/>
              </a:rPr>
              <a:t>M. C. Chen, Y. M. Huang, and S. H. Cheng, “Developing a Student Learning Performance Evaluation System Using Data Analytics,” </a:t>
            </a:r>
            <a:r>
              <a:rPr lang="en-IN" sz="1500" i="1" dirty="0">
                <a:latin typeface="Cambria" panose="02040503050406030204" pitchFamily="18" charset="0"/>
                <a:ea typeface="Cambria" panose="02040503050406030204" pitchFamily="18" charset="0"/>
              </a:rPr>
              <a:t>Educational Technology &amp; Society</a:t>
            </a:r>
            <a:r>
              <a:rPr lang="en-IN" sz="1500" dirty="0">
                <a:latin typeface="Cambria" panose="02040503050406030204" pitchFamily="18" charset="0"/>
                <a:ea typeface="Cambria" panose="02040503050406030204" pitchFamily="18" charset="0"/>
              </a:rPr>
              <a:t>, vol. 20, no. 2, pp. 192–204, 2017.</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3"/>
              </a:rPr>
              <a:t>https://www.researchgate.net/publication/315870125</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[7] </a:t>
            </a:r>
            <a:r>
              <a:rPr lang="en-IN" sz="1500" dirty="0">
                <a:latin typeface="Cambria" panose="02040503050406030204" pitchFamily="18" charset="0"/>
                <a:ea typeface="Cambria" panose="02040503050406030204" pitchFamily="18" charset="0"/>
              </a:rPr>
              <a:t>P. D. Leahy and A. Tsang, “Digital Credentialing and Student Records Management in Higher Education,” </a:t>
            </a:r>
            <a:r>
              <a:rPr lang="en-IN" sz="1500" i="1" dirty="0">
                <a:latin typeface="Cambria" panose="02040503050406030204" pitchFamily="18" charset="0"/>
                <a:ea typeface="Cambria" panose="02040503050406030204" pitchFamily="18" charset="0"/>
              </a:rPr>
              <a:t>Journal of Educational Administration</a:t>
            </a:r>
            <a:r>
              <a:rPr lang="en-IN" sz="1500" dirty="0">
                <a:latin typeface="Cambria" panose="02040503050406030204" pitchFamily="18" charset="0"/>
                <a:ea typeface="Cambria" panose="02040503050406030204" pitchFamily="18" charset="0"/>
              </a:rPr>
              <a:t>, vol. 56, no. 4, pp. 425–442, 2018.</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4"/>
              </a:rPr>
              <a:t>https://www.researchgate.net/publication/326532941</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[8] </a:t>
            </a:r>
            <a:r>
              <a:rPr lang="en-IN" sz="1500" dirty="0">
                <a:latin typeface="Cambria" panose="02040503050406030204" pitchFamily="18" charset="0"/>
                <a:ea typeface="Cambria" panose="02040503050406030204" pitchFamily="18" charset="0"/>
              </a:rPr>
              <a:t>S. B. Shukla and R. Mishra, “Web-Based Student Information Management System for Academic Institutions,” </a:t>
            </a:r>
            <a:r>
              <a:rPr lang="en-IN" sz="1500" i="1" dirty="0">
                <a:latin typeface="Cambria" panose="02040503050406030204" pitchFamily="18" charset="0"/>
                <a:ea typeface="Cambria" panose="02040503050406030204" pitchFamily="18" charset="0"/>
              </a:rPr>
              <a:t>International Journal of Computer Applications</a:t>
            </a:r>
            <a:r>
              <a:rPr lang="en-IN" sz="1500" dirty="0">
                <a:latin typeface="Cambria" panose="02040503050406030204" pitchFamily="18" charset="0"/>
                <a:ea typeface="Cambria" panose="02040503050406030204" pitchFamily="18" charset="0"/>
              </a:rPr>
              <a:t>, vol. 120, no. 15, pp. 1–6, 2015.</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5"/>
              </a:rPr>
              <a:t>https://www.researchgate.net/publication/280009402</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[9] </a:t>
            </a:r>
            <a:r>
              <a:rPr lang="en-IN" sz="1500" dirty="0">
                <a:latin typeface="Cambria" panose="02040503050406030204" pitchFamily="18" charset="0"/>
                <a:ea typeface="Cambria" panose="02040503050406030204" pitchFamily="18" charset="0"/>
              </a:rPr>
              <a:t>A. </a:t>
            </a:r>
            <a:r>
              <a:rPr lang="en-IN" sz="1500" dirty="0" err="1">
                <a:latin typeface="Cambria" panose="02040503050406030204" pitchFamily="18" charset="0"/>
                <a:ea typeface="Cambria" panose="02040503050406030204" pitchFamily="18" charset="0"/>
              </a:rPr>
              <a:t>Alammary</a:t>
            </a:r>
            <a:r>
              <a:rPr lang="en-IN" sz="1500" dirty="0">
                <a:latin typeface="Cambria" panose="02040503050406030204" pitchFamily="18" charset="0"/>
                <a:ea typeface="Cambria" panose="02040503050406030204" pitchFamily="18" charset="0"/>
              </a:rPr>
              <a:t>, S. Alhazmi, M. Almasri, and S. Gillani, “Blockchain-Based Applications in Education: A Systematic Review,” </a:t>
            </a:r>
            <a:r>
              <a:rPr lang="en-IN" sz="1500" i="1" dirty="0">
                <a:latin typeface="Cambria" panose="02040503050406030204" pitchFamily="18" charset="0"/>
                <a:ea typeface="Cambria" panose="02040503050406030204" pitchFamily="18" charset="0"/>
              </a:rPr>
              <a:t>Applied Sciences</a:t>
            </a:r>
            <a:r>
              <a:rPr lang="en-IN" sz="1500" dirty="0">
                <a:latin typeface="Cambria" panose="02040503050406030204" pitchFamily="18" charset="0"/>
                <a:ea typeface="Cambria" panose="02040503050406030204" pitchFamily="18" charset="0"/>
              </a:rPr>
              <a:t>, vol. 9, no. 12, p. 2400, 2019.</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6"/>
              </a:rPr>
              <a:t>https://www.researchgate.net/publication/333365505</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r>
              <a:rPr lang="en-IN" sz="1500" b="1" dirty="0">
                <a:latin typeface="Cambria" panose="02040503050406030204" pitchFamily="18" charset="0"/>
                <a:ea typeface="Cambria" panose="02040503050406030204" pitchFamily="18" charset="0"/>
              </a:rPr>
              <a:t>[10] </a:t>
            </a:r>
            <a:r>
              <a:rPr lang="en-IN" sz="1500" dirty="0">
                <a:latin typeface="Cambria" panose="02040503050406030204" pitchFamily="18" charset="0"/>
                <a:ea typeface="Cambria" panose="02040503050406030204" pitchFamily="18" charset="0"/>
              </a:rPr>
              <a:t>M. J. Beetham and R. Sharpe, </a:t>
            </a:r>
            <a:r>
              <a:rPr lang="en-IN" sz="1500" i="1" dirty="0">
                <a:latin typeface="Cambria" panose="02040503050406030204" pitchFamily="18" charset="0"/>
                <a:ea typeface="Cambria" panose="02040503050406030204" pitchFamily="18" charset="0"/>
              </a:rPr>
              <a:t>Rethinking Pedagogy for a Digital Age</a:t>
            </a:r>
            <a:r>
              <a:rPr lang="en-IN" sz="1500" dirty="0">
                <a:latin typeface="Cambria" panose="02040503050406030204" pitchFamily="18" charset="0"/>
                <a:ea typeface="Cambria" panose="02040503050406030204" pitchFamily="18" charset="0"/>
              </a:rPr>
              <a:t>, 2nd ed., Routledge, 2013.</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solidFill>
                  <a:schemeClr val="bg2">
                    <a:lumMod val="60000"/>
                    <a:lumOff val="40000"/>
                  </a:schemeClr>
                </a:solidFill>
                <a:latin typeface="Cambria" panose="02040503050406030204" pitchFamily="18" charset="0"/>
                <a:ea typeface="Cambria" panose="02040503050406030204" pitchFamily="18" charset="0"/>
                <a:hlinkClick r:id="rId7"/>
              </a:rPr>
              <a:t>https://www.researchgate.net/publication/263984640</a:t>
            </a: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a:p>
            <a:pPr>
              <a:lnSpc>
                <a:spcPct val="150000"/>
              </a:lnSpc>
            </a:pPr>
            <a:endParaRPr lang="en-IN" sz="1500" dirty="0">
              <a:solidFill>
                <a:schemeClr val="bg2">
                  <a:lumMod val="60000"/>
                  <a:lumOff val="4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2602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67A90C0-3D6C-4ADD-BC1A-318AEBE5C49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171E7DF7-9D0E-3D82-EA01-0321479AD505}"/>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Analysis of Relevant Research Papers</a:t>
            </a:r>
          </a:p>
        </p:txBody>
      </p:sp>
      <p:sp>
        <p:nvSpPr>
          <p:cNvPr id="2" name="TextBox 1">
            <a:extLst>
              <a:ext uri="{FF2B5EF4-FFF2-40B4-BE49-F238E27FC236}">
                <a16:creationId xmlns:a16="http://schemas.microsoft.com/office/drawing/2014/main" id="{14519F37-72F2-A849-972A-50570F69EC1C}"/>
              </a:ext>
            </a:extLst>
          </p:cNvPr>
          <p:cNvSpPr txBox="1"/>
          <p:nvPr/>
        </p:nvSpPr>
        <p:spPr>
          <a:xfrm>
            <a:off x="812800" y="1280160"/>
            <a:ext cx="10668000" cy="338554"/>
          </a:xfrm>
          <a:prstGeom prst="rect">
            <a:avLst/>
          </a:prstGeom>
          <a:noFill/>
        </p:spPr>
        <p:txBody>
          <a:bodyPr wrap="square" rtlCol="0">
            <a:spAutoFit/>
          </a:bodyPr>
          <a:lstStyle/>
          <a:p>
            <a:endParaRPr lang="en-US" sz="1600" dirty="0"/>
          </a:p>
        </p:txBody>
      </p:sp>
      <p:sp>
        <p:nvSpPr>
          <p:cNvPr id="3" name="TextBox 2">
            <a:extLst>
              <a:ext uri="{FF2B5EF4-FFF2-40B4-BE49-F238E27FC236}">
                <a16:creationId xmlns:a16="http://schemas.microsoft.com/office/drawing/2014/main" id="{66AD5F69-608C-D228-D49D-C6FDDDD7FA5B}"/>
              </a:ext>
            </a:extLst>
          </p:cNvPr>
          <p:cNvSpPr txBox="1"/>
          <p:nvPr/>
        </p:nvSpPr>
        <p:spPr>
          <a:xfrm>
            <a:off x="711200" y="885305"/>
            <a:ext cx="10792691" cy="5473931"/>
          </a:xfrm>
          <a:prstGeom prst="rect">
            <a:avLst/>
          </a:prstGeom>
          <a:noFill/>
        </p:spPr>
        <p:txBody>
          <a:bodyPr wrap="square" rtlCol="0">
            <a:spAutoFit/>
          </a:bodyPr>
          <a:lstStyle/>
          <a:p>
            <a:pPr marL="342900" indent="-342900">
              <a:buAutoNum type="arabicPeriod"/>
            </a:pPr>
            <a:r>
              <a:rPr lang="en-US" sz="2000" b="1" dirty="0">
                <a:latin typeface="Cambria" panose="02040503050406030204" pitchFamily="18" charset="0"/>
                <a:ea typeface="Cambria" panose="02040503050406030204" pitchFamily="18" charset="0"/>
              </a:rPr>
              <a:t>Development of Student Performance Tracking Apps </a:t>
            </a:r>
            <a:r>
              <a:rPr lang="en-US" sz="2000" dirty="0">
                <a:latin typeface="Cambria" panose="02040503050406030204" pitchFamily="18" charset="0"/>
                <a:ea typeface="Cambria" panose="02040503050406030204" pitchFamily="18" charset="0"/>
              </a:rPr>
              <a:t>(Kumbhar &amp; Patil, 2020)</a:t>
            </a:r>
          </a:p>
          <a:p>
            <a:pPr marL="342900" indent="-342900">
              <a:buAutoNum type="arabicPeriod"/>
            </a:pPr>
            <a:endParaRPr lang="en-US" sz="20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What the Paper is About:</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This paper focuses on the creation of mobile-based applications to track student academic performance such as marks, attendance, and progress reports. The authors highlight the need for digital systems to replace manual monitoring methods and improve transparency between students and faculty.</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The Methodology They Used:</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The system proposed in this paper follows a traditional application-based tracking approach:</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Collection of academic data (marks, attendance, test scores)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Storage of records in a centralized database</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Display of performance reports through dashboards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Role-based access for students and teachers</a:t>
            </a:r>
          </a:p>
          <a:p>
            <a:r>
              <a:rPr lang="en-US" sz="1600" dirty="0">
                <a:latin typeface="Cambria" panose="02040503050406030204" pitchFamily="18" charset="0"/>
                <a:ea typeface="Cambria" panose="02040503050406030204" pitchFamily="18" charset="0"/>
              </a:rPr>
              <a:t>The focus is mainly on </a:t>
            </a:r>
            <a:r>
              <a:rPr lang="en-US" sz="1600" b="1" dirty="0">
                <a:latin typeface="Cambria" panose="02040503050406030204" pitchFamily="18" charset="0"/>
                <a:ea typeface="Cambria" panose="02040503050406030204" pitchFamily="18" charset="0"/>
              </a:rPr>
              <a:t>academic performance metrics</a:t>
            </a:r>
            <a:r>
              <a:rPr lang="en-US" sz="1600" dirty="0">
                <a:latin typeface="Cambria" panose="02040503050406030204" pitchFamily="18" charset="0"/>
                <a:ea typeface="Cambria" panose="02040503050406030204" pitchFamily="18" charset="0"/>
              </a:rPr>
              <a:t>, with limited scope beyond classroom-related data.</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How Their Approach is Different from Ours:</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While this research focuses only on academic tracking, </a:t>
            </a:r>
            <a:r>
              <a:rPr lang="en-US" sz="1600" b="1" dirty="0">
                <a:latin typeface="Cambria" panose="02040503050406030204" pitchFamily="18" charset="0"/>
                <a:ea typeface="Cambria" panose="02040503050406030204" pitchFamily="18" charset="0"/>
              </a:rPr>
              <a:t>Smart Student Hub extends beyond academic data</a:t>
            </a:r>
            <a:r>
              <a:rPr lang="en-US" sz="1600" dirty="0">
                <a:latin typeface="Cambria" panose="02040503050406030204" pitchFamily="18" charset="0"/>
                <a:ea typeface="Cambria" panose="02040503050406030204" pitchFamily="18" charset="0"/>
              </a:rPr>
              <a:t>. Our system integrates </a:t>
            </a:r>
            <a:r>
              <a:rPr lang="en-US" sz="1600" b="1" dirty="0">
                <a:latin typeface="Cambria" panose="02040503050406030204" pitchFamily="18" charset="0"/>
                <a:ea typeface="Cambria" panose="02040503050406030204" pitchFamily="18" charset="0"/>
              </a:rPr>
              <a:t>co-curricular, extra-curricular, internships, certifications, and community activities</a:t>
            </a:r>
            <a:r>
              <a:rPr lang="en-US" sz="1600" dirty="0">
                <a:latin typeface="Cambria" panose="02040503050406030204" pitchFamily="18" charset="0"/>
                <a:ea typeface="Cambria" panose="02040503050406030204" pitchFamily="18" charset="0"/>
              </a:rPr>
              <a:t> into the same verified profile. Additionally, Smart Student Hub introduces </a:t>
            </a:r>
            <a:r>
              <a:rPr lang="en-US" sz="1600" b="1" dirty="0">
                <a:latin typeface="Cambria" panose="02040503050406030204" pitchFamily="18" charset="0"/>
                <a:ea typeface="Cambria" panose="02040503050406030204" pitchFamily="18" charset="0"/>
              </a:rPr>
              <a:t>faculty approval workflows and portfolio generation</a:t>
            </a:r>
            <a:r>
              <a:rPr lang="en-US" sz="1600" dirty="0">
                <a:latin typeface="Cambria" panose="02040503050406030204" pitchFamily="18" charset="0"/>
                <a:ea typeface="Cambria" panose="02040503050406030204" pitchFamily="18" charset="0"/>
              </a:rPr>
              <a:t>, which are not addressed in this paper.</a:t>
            </a:r>
          </a:p>
          <a:p>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6227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FEA2B05-A2A0-060F-324A-EE1C8623088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5A714AB-A528-540C-66EE-0EE2B77DCF0D}"/>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Analysis of Relevant Research Papers</a:t>
            </a:r>
          </a:p>
        </p:txBody>
      </p:sp>
      <p:sp>
        <p:nvSpPr>
          <p:cNvPr id="2" name="TextBox 1">
            <a:extLst>
              <a:ext uri="{FF2B5EF4-FFF2-40B4-BE49-F238E27FC236}">
                <a16:creationId xmlns:a16="http://schemas.microsoft.com/office/drawing/2014/main" id="{371DA3D8-F00D-E844-3367-258451E08935}"/>
              </a:ext>
            </a:extLst>
          </p:cNvPr>
          <p:cNvSpPr txBox="1"/>
          <p:nvPr/>
        </p:nvSpPr>
        <p:spPr>
          <a:xfrm>
            <a:off x="812800" y="1280160"/>
            <a:ext cx="10668000" cy="338554"/>
          </a:xfrm>
          <a:prstGeom prst="rect">
            <a:avLst/>
          </a:prstGeom>
          <a:noFill/>
        </p:spPr>
        <p:txBody>
          <a:bodyPr wrap="square" rtlCol="0">
            <a:spAutoFit/>
          </a:bodyPr>
          <a:lstStyle/>
          <a:p>
            <a:endParaRPr lang="en-US" sz="1600" dirty="0"/>
          </a:p>
        </p:txBody>
      </p:sp>
      <p:sp>
        <p:nvSpPr>
          <p:cNvPr id="3" name="TextBox 2">
            <a:extLst>
              <a:ext uri="{FF2B5EF4-FFF2-40B4-BE49-F238E27FC236}">
                <a16:creationId xmlns:a16="http://schemas.microsoft.com/office/drawing/2014/main" id="{49D01AE8-48F5-CDAE-85F3-0C53E34EF53E}"/>
              </a:ext>
            </a:extLst>
          </p:cNvPr>
          <p:cNvSpPr txBox="1"/>
          <p:nvPr/>
        </p:nvSpPr>
        <p:spPr>
          <a:xfrm>
            <a:off x="812800" y="976746"/>
            <a:ext cx="10928927" cy="5416868"/>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2. Student’s Digital Portfolio for Assessing and Presenting Talents </a:t>
            </a:r>
            <a:r>
              <a:rPr lang="en-US" sz="2000" dirty="0">
                <a:latin typeface="Cambria" panose="02040503050406030204" pitchFamily="18" charset="0"/>
                <a:ea typeface="Cambria" panose="02040503050406030204" pitchFamily="18" charset="0"/>
              </a:rPr>
              <a:t>(Alqahtani, 2020)</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What the Paper is About:</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This research explores the use of digital portfolios as a tool for students to present their skills, achievements, and talents. The paper emphasizes portfolios as a self-representation mechanism that supports assessment, reflection, and skill showcasing.</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The Methodology They Used:</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The proposed approach includes: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Student-driven content submission (projects, achievements, skills)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Use of digital artifacts such as documents and multimedia</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Portfolio-based assessment for evaluating student abilities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Emphasis on learner ownership and presentation</a:t>
            </a:r>
          </a:p>
          <a:p>
            <a:r>
              <a:rPr lang="en-US" sz="1600" dirty="0">
                <a:latin typeface="Cambria" panose="02040503050406030204" pitchFamily="18" charset="0"/>
                <a:ea typeface="Cambria" panose="02040503050406030204" pitchFamily="18" charset="0"/>
              </a:rPr>
              <a:t>The portfolio is primarily </a:t>
            </a:r>
            <a:r>
              <a:rPr lang="en-US" sz="1600" b="1" dirty="0">
                <a:latin typeface="Cambria" panose="02040503050406030204" pitchFamily="18" charset="0"/>
                <a:ea typeface="Cambria" panose="02040503050406030204" pitchFamily="18" charset="0"/>
              </a:rPr>
              <a:t>student-managed</a:t>
            </a:r>
            <a:r>
              <a:rPr lang="en-US" sz="1600" dirty="0">
                <a:latin typeface="Cambria" panose="02040503050406030204" pitchFamily="18" charset="0"/>
                <a:ea typeface="Cambria" panose="02040503050406030204" pitchFamily="18" charset="0"/>
              </a:rPr>
              <a:t>, with minimal institutional validation.</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How Their Approach is Different from Ours:</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Smart Student Hub builds upon the idea of digital portfolios but adds </a:t>
            </a:r>
            <a:r>
              <a:rPr lang="en-US" sz="1600" b="1" dirty="0">
                <a:latin typeface="Cambria" panose="02040503050406030204" pitchFamily="18" charset="0"/>
                <a:ea typeface="Cambria" panose="02040503050406030204" pitchFamily="18" charset="0"/>
              </a:rPr>
              <a:t>institution-level credibility</a:t>
            </a:r>
            <a:r>
              <a:rPr lang="en-US" sz="1600" dirty="0">
                <a:latin typeface="Cambria" panose="02040503050406030204" pitchFamily="18" charset="0"/>
                <a:ea typeface="Cambria" panose="02040503050406030204" pitchFamily="18" charset="0"/>
              </a:rPr>
              <a:t>. Unlike the student-managed portfolios in this paper, our system introduces </a:t>
            </a:r>
            <a:r>
              <a:rPr lang="en-US" sz="1600" b="1" dirty="0">
                <a:latin typeface="Cambria" panose="02040503050406030204" pitchFamily="18" charset="0"/>
                <a:ea typeface="Cambria" panose="02040503050406030204" pitchFamily="18" charset="0"/>
              </a:rPr>
              <a:t>faculty and administrator verification</a:t>
            </a:r>
            <a:r>
              <a:rPr lang="en-US" sz="1600" dirty="0">
                <a:latin typeface="Cambria" panose="02040503050406030204" pitchFamily="18" charset="0"/>
                <a:ea typeface="Cambria" panose="02040503050406030204" pitchFamily="18" charset="0"/>
              </a:rPr>
              <a:t>, ensuring that all records are authentic and officially approved. Furthermore, Smart Student Hub supports </a:t>
            </a:r>
            <a:r>
              <a:rPr lang="en-US" sz="1600" b="1" dirty="0">
                <a:latin typeface="Cambria" panose="02040503050406030204" pitchFamily="18" charset="0"/>
                <a:ea typeface="Cambria" panose="02040503050406030204" pitchFamily="18" charset="0"/>
              </a:rPr>
              <a:t>auto-generated, accreditation-ready portfolios</a:t>
            </a:r>
            <a:r>
              <a:rPr lang="en-US" sz="1600" dirty="0">
                <a:latin typeface="Cambria" panose="02040503050406030204" pitchFamily="18" charset="0"/>
                <a:ea typeface="Cambria" panose="02040503050406030204" pitchFamily="18" charset="0"/>
              </a:rPr>
              <a:t>, making them usable for placements, scholarships, and higher education.</a:t>
            </a:r>
          </a:p>
          <a:p>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59039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2C265B6-281C-539F-3E56-BC664744DB9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E7EFD278-8466-7F34-2854-26ABFF9C017F}"/>
              </a:ext>
            </a:extLst>
          </p:cNvPr>
          <p:cNvSpPr txBox="1">
            <a:spLocks noGrp="1"/>
          </p:cNvSpPr>
          <p:nvPr>
            <p:ph type="title"/>
          </p:nvPr>
        </p:nvSpPr>
        <p:spPr>
          <a:xfrm>
            <a:off x="711200" y="295420"/>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Analysis of Relevant Research Papers</a:t>
            </a:r>
          </a:p>
        </p:txBody>
      </p:sp>
      <p:sp>
        <p:nvSpPr>
          <p:cNvPr id="2" name="TextBox 1">
            <a:extLst>
              <a:ext uri="{FF2B5EF4-FFF2-40B4-BE49-F238E27FC236}">
                <a16:creationId xmlns:a16="http://schemas.microsoft.com/office/drawing/2014/main" id="{C0A4E1DE-3251-5280-6DD6-789BE4A71479}"/>
              </a:ext>
            </a:extLst>
          </p:cNvPr>
          <p:cNvSpPr txBox="1"/>
          <p:nvPr/>
        </p:nvSpPr>
        <p:spPr>
          <a:xfrm>
            <a:off x="812800" y="1280160"/>
            <a:ext cx="10668000" cy="338554"/>
          </a:xfrm>
          <a:prstGeom prst="rect">
            <a:avLst/>
          </a:prstGeom>
          <a:noFill/>
        </p:spPr>
        <p:txBody>
          <a:bodyPr wrap="square" rtlCol="0">
            <a:spAutoFit/>
          </a:bodyPr>
          <a:lstStyle/>
          <a:p>
            <a:endParaRPr lang="en-US" sz="1600" dirty="0"/>
          </a:p>
        </p:txBody>
      </p:sp>
      <p:sp>
        <p:nvSpPr>
          <p:cNvPr id="3" name="TextBox 2">
            <a:extLst>
              <a:ext uri="{FF2B5EF4-FFF2-40B4-BE49-F238E27FC236}">
                <a16:creationId xmlns:a16="http://schemas.microsoft.com/office/drawing/2014/main" id="{123FB09F-BF4E-3651-F32F-C273651C92E3}"/>
              </a:ext>
            </a:extLst>
          </p:cNvPr>
          <p:cNvSpPr txBox="1"/>
          <p:nvPr/>
        </p:nvSpPr>
        <p:spPr>
          <a:xfrm>
            <a:off x="812800" y="899887"/>
            <a:ext cx="11379200" cy="569386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3. The Contribution of Digital Portfolios to Higher Education Students’ Autonomy and Digital Competence </a:t>
            </a:r>
            <a:r>
              <a:rPr lang="en-US" sz="2000" dirty="0">
                <a:latin typeface="Cambria" panose="02040503050406030204" pitchFamily="18" charset="0"/>
                <a:ea typeface="Cambria" panose="02040503050406030204" pitchFamily="18" charset="0"/>
              </a:rPr>
              <a:t>(González-Calatayud et al., 2023)</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What the Paper is About:</a:t>
            </a:r>
            <a:br>
              <a:rPr lang="en-US" sz="18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This study investigates how digital portfolios contribute to student autonomy, reflective learning, and digital skill development in higher education. It highlights portfolios as tools that encourage responsibility, self-monitoring, and continuous improvement.</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The Methodology They Used:</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The researchers used:</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Portfolio-based learning activities</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Student reflection and self-assessment</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Surveys and qualitative analysis to measure autonomy and competence</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Long-term observation of student engagement</a:t>
            </a:r>
          </a:p>
          <a:p>
            <a:r>
              <a:rPr lang="en-US" sz="1600" dirty="0">
                <a:latin typeface="Cambria" panose="02040503050406030204" pitchFamily="18" charset="0"/>
                <a:ea typeface="Cambria" panose="02040503050406030204" pitchFamily="18" charset="0"/>
              </a:rPr>
              <a:t>The emphasis is on </a:t>
            </a:r>
            <a:r>
              <a:rPr lang="en-US" sz="1600" b="1" dirty="0">
                <a:latin typeface="Cambria" panose="02040503050406030204" pitchFamily="18" charset="0"/>
                <a:ea typeface="Cambria" panose="02040503050406030204" pitchFamily="18" charset="0"/>
              </a:rPr>
              <a:t>learning outcomes and skill development</a:t>
            </a:r>
            <a:r>
              <a:rPr lang="en-US" sz="1600" dirty="0">
                <a:latin typeface="Cambria" panose="02040503050406030204" pitchFamily="18" charset="0"/>
                <a:ea typeface="Cambria" panose="02040503050406030204" pitchFamily="18" charset="0"/>
              </a:rPr>
              <a:t>, rather than administrative or institutional use.</a:t>
            </a:r>
          </a:p>
          <a:p>
            <a:endParaRPr lang="en-US" sz="1600" dirty="0">
              <a:latin typeface="Cambria" panose="02040503050406030204" pitchFamily="18" charset="0"/>
              <a:ea typeface="Cambria" panose="02040503050406030204" pitchFamily="18" charset="0"/>
            </a:endParaRPr>
          </a:p>
          <a:p>
            <a:r>
              <a:rPr lang="en-US" sz="1800" b="1" dirty="0">
                <a:latin typeface="Cambria" panose="02040503050406030204" pitchFamily="18" charset="0"/>
                <a:ea typeface="Cambria" panose="02040503050406030204" pitchFamily="18" charset="0"/>
              </a:rPr>
              <a:t>How Their Approach is Different from Ours:</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While this paper focuses on personal growth and learning autonomy, </a:t>
            </a:r>
            <a:r>
              <a:rPr lang="en-US" sz="1600" b="1" dirty="0">
                <a:latin typeface="Cambria" panose="02040503050406030204" pitchFamily="18" charset="0"/>
                <a:ea typeface="Cambria" panose="02040503050406030204" pitchFamily="18" charset="0"/>
              </a:rPr>
              <a:t>Smart Student Hub applies digital portfolios at an institutional scale</a:t>
            </a:r>
            <a:r>
              <a:rPr lang="en-US" sz="1600" dirty="0">
                <a:latin typeface="Cambria" panose="02040503050406030204" pitchFamily="18" charset="0"/>
                <a:ea typeface="Cambria" panose="02040503050406030204" pitchFamily="18" charset="0"/>
              </a:rPr>
              <a:t>. Our system connects portfolios with </a:t>
            </a:r>
            <a:r>
              <a:rPr lang="en-US" sz="1600" b="1" dirty="0">
                <a:latin typeface="Cambria" panose="02040503050406030204" pitchFamily="18" charset="0"/>
                <a:ea typeface="Cambria" panose="02040503050406030204" pitchFamily="18" charset="0"/>
              </a:rPr>
              <a:t>faculty validation, analytics, and structured reporting</a:t>
            </a:r>
            <a:r>
              <a:rPr lang="en-US" sz="1600" dirty="0">
                <a:latin typeface="Cambria" panose="02040503050406030204" pitchFamily="18" charset="0"/>
                <a:ea typeface="Cambria" panose="02040503050406030204" pitchFamily="18" charset="0"/>
              </a:rPr>
              <a:t>, supporting not only student development but also </a:t>
            </a:r>
            <a:r>
              <a:rPr lang="en-US" sz="1600" b="1" dirty="0">
                <a:latin typeface="Cambria" panose="02040503050406030204" pitchFamily="18" charset="0"/>
                <a:ea typeface="Cambria" panose="02040503050406030204" pitchFamily="18" charset="0"/>
              </a:rPr>
              <a:t>administrative efficiency and compliance needs</a:t>
            </a:r>
            <a:r>
              <a:rPr lang="en-US" sz="1600" dirty="0">
                <a:latin typeface="Cambria" panose="02040503050406030204" pitchFamily="18" charset="0"/>
                <a:ea typeface="Cambria" panose="02040503050406030204" pitchFamily="18" charset="0"/>
              </a:rPr>
              <a:t> such as NAAC, AICTE, and NIRF reporting.</a:t>
            </a:r>
          </a:p>
          <a:p>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9353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01A3682-BB27-A6CA-5A3F-7390B08A303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A57D0A7-3C38-A58C-CC58-9581EADFCA7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t>Background and Related Work</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7192E79-8291-662D-A998-1F621A8E0C27}"/>
              </a:ext>
            </a:extLst>
          </p:cNvPr>
          <p:cNvSpPr txBox="1"/>
          <p:nvPr/>
        </p:nvSpPr>
        <p:spPr>
          <a:xfrm>
            <a:off x="812800" y="1219200"/>
            <a:ext cx="10617200" cy="4708981"/>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This project lies in the </a:t>
            </a:r>
            <a:r>
              <a:rPr lang="en-US" sz="2000" b="1" dirty="0">
                <a:latin typeface="Cambria" panose="02040503050406030204" pitchFamily="18" charset="0"/>
                <a:ea typeface="Cambria" panose="02040503050406030204" pitchFamily="18" charset="0"/>
              </a:rPr>
              <a:t>Educational Technology (EdTech)</a:t>
            </a:r>
            <a:r>
              <a:rPr lang="en-US" sz="2000" dirty="0">
                <a:latin typeface="Cambria" panose="02040503050406030204" pitchFamily="18" charset="0"/>
                <a:ea typeface="Cambria" panose="02040503050406030204" pitchFamily="18" charset="0"/>
              </a:rPr>
              <a:t> domain, focusing on managing student academic and co-curricular records in Higher Education Institutions.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Existing systems such as </a:t>
            </a:r>
            <a:r>
              <a:rPr lang="en-US" sz="2000" b="1" dirty="0">
                <a:latin typeface="Cambria" panose="02040503050406030204" pitchFamily="18" charset="0"/>
                <a:ea typeface="Cambria" panose="02040503050406030204" pitchFamily="18" charset="0"/>
              </a:rPr>
              <a:t>ERP</a:t>
            </a:r>
            <a:r>
              <a:rPr lang="en-US" sz="2000" dirty="0">
                <a:latin typeface="Cambria" panose="02040503050406030204" pitchFamily="18" charset="0"/>
                <a:ea typeface="Cambria" panose="02040503050406030204" pitchFamily="18" charset="0"/>
              </a:rPr>
              <a:t> and </a:t>
            </a:r>
            <a:r>
              <a:rPr lang="en-US" sz="2000" b="1" dirty="0">
                <a:latin typeface="Cambria" panose="02040503050406030204" pitchFamily="18" charset="0"/>
                <a:ea typeface="Cambria" panose="02040503050406030204" pitchFamily="18" charset="0"/>
              </a:rPr>
              <a:t>LMS</a:t>
            </a:r>
            <a:r>
              <a:rPr lang="en-US" sz="2000" dirty="0">
                <a:latin typeface="Cambria" panose="02040503050406030204" pitchFamily="18" charset="0"/>
                <a:ea typeface="Cambria" panose="02040503050406030204" pitchFamily="18" charset="0"/>
              </a:rPr>
              <a:t> handle marks, attendance, and learning content, but they do not capture a student’s full development. Records related to internships, certifications, events, clubs, and community service are usually stored in separate tools or physical files.</a:t>
            </a: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Research Gap</a:t>
            </a:r>
          </a:p>
          <a:p>
            <a:r>
              <a:rPr lang="en-US" sz="2000" dirty="0">
                <a:latin typeface="Cambria" panose="02040503050406030204" pitchFamily="18" charset="0"/>
                <a:ea typeface="Cambria" panose="02040503050406030204" pitchFamily="18" charset="0"/>
              </a:rPr>
              <a:t>There is no unified platform that connects academic and non-academic records with faculty verification and portfolio generation. This gap limits transparency, student visibility, and institutional efficiency.</a:t>
            </a: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Title Justification</a:t>
            </a:r>
          </a:p>
          <a:p>
            <a:r>
              <a:rPr lang="en-US" sz="2000" dirty="0">
                <a:latin typeface="Cambria" panose="02040503050406030204" pitchFamily="18" charset="0"/>
                <a:ea typeface="Cambria" panose="02040503050406030204" pitchFamily="18" charset="0"/>
              </a:rPr>
              <a:t>The title </a:t>
            </a:r>
            <a:r>
              <a:rPr lang="en-US" sz="2000" b="1" dirty="0">
                <a:latin typeface="Cambria" panose="02040503050406030204" pitchFamily="18" charset="0"/>
                <a:ea typeface="Cambria" panose="02040503050406030204" pitchFamily="18" charset="0"/>
              </a:rPr>
              <a:t>“Smart Student Hub”</a:t>
            </a:r>
            <a:r>
              <a:rPr lang="en-US" sz="2000" dirty="0">
                <a:latin typeface="Cambria" panose="02040503050406030204" pitchFamily="18" charset="0"/>
                <a:ea typeface="Cambria" panose="02040503050406030204" pitchFamily="18" charset="0"/>
              </a:rPr>
              <a:t> reflects a centralized system that connects students, faculty, and administrators for complete and verified student record management.</a:t>
            </a:r>
          </a:p>
        </p:txBody>
      </p:sp>
    </p:spTree>
    <p:extLst>
      <p:ext uri="{BB962C8B-B14F-4D97-AF65-F5344CB8AC3E}">
        <p14:creationId xmlns:p14="http://schemas.microsoft.com/office/powerpoint/2010/main" val="393219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66354"/>
            <a:ext cx="10668000" cy="5070764"/>
          </a:xfrm>
          <a:prstGeom prst="rect">
            <a:avLst/>
          </a:prstGeom>
          <a:noFill/>
          <a:ln>
            <a:noFill/>
          </a:ln>
        </p:spPr>
        <p:txBody>
          <a:bodyPr spcFirstLastPara="1" wrap="square" lIns="91425" tIns="45700" rIns="91425" bIns="45700" anchor="t" anchorCtr="0">
            <a:noAutofit/>
          </a:bodyPr>
          <a:lstStyle/>
          <a:p>
            <a:pPr marL="76200" indent="0">
              <a:buNone/>
            </a:pPr>
            <a:r>
              <a:rPr lang="en-US" sz="1900" b="1" dirty="0">
                <a:latin typeface="Cambria" panose="02040503050406030204" pitchFamily="18" charset="0"/>
                <a:ea typeface="Cambria" panose="02040503050406030204" pitchFamily="18" charset="0"/>
              </a:rPr>
              <a:t>Existing Solutions</a:t>
            </a:r>
          </a:p>
          <a:p>
            <a:r>
              <a:rPr lang="en-US" sz="1900" dirty="0">
                <a:latin typeface="Cambria" panose="02040503050406030204" pitchFamily="18" charset="0"/>
                <a:ea typeface="Cambria" panose="02040503050406030204" pitchFamily="18" charset="0"/>
              </a:rPr>
              <a:t>Most institutions depend on:</a:t>
            </a:r>
          </a:p>
          <a:p>
            <a:r>
              <a:rPr lang="en-US" sz="1900" b="1" dirty="0">
                <a:latin typeface="Cambria" panose="02040503050406030204" pitchFamily="18" charset="0"/>
                <a:ea typeface="Cambria" panose="02040503050406030204" pitchFamily="18" charset="0"/>
              </a:rPr>
              <a:t>ERP systems</a:t>
            </a:r>
            <a:r>
              <a:rPr lang="en-US" sz="1900" dirty="0">
                <a:latin typeface="Cambria" panose="02040503050406030204" pitchFamily="18" charset="0"/>
                <a:ea typeface="Cambria" panose="02040503050406030204" pitchFamily="18" charset="0"/>
              </a:rPr>
              <a:t> for marks and attendance</a:t>
            </a:r>
          </a:p>
          <a:p>
            <a:r>
              <a:rPr lang="en-US" sz="1900" b="1" dirty="0">
                <a:latin typeface="Cambria" panose="02040503050406030204" pitchFamily="18" charset="0"/>
                <a:ea typeface="Cambria" panose="02040503050406030204" pitchFamily="18" charset="0"/>
              </a:rPr>
              <a:t>LMS platforms</a:t>
            </a:r>
            <a:r>
              <a:rPr lang="en-US" sz="1900" dirty="0">
                <a:latin typeface="Cambria" panose="02040503050406030204" pitchFamily="18" charset="0"/>
                <a:ea typeface="Cambria" panose="02040503050406030204" pitchFamily="18" charset="0"/>
              </a:rPr>
              <a:t> for course delivery</a:t>
            </a:r>
          </a:p>
          <a:p>
            <a:r>
              <a:rPr lang="en-US" sz="1900" b="1" dirty="0">
                <a:latin typeface="Cambria" panose="02040503050406030204" pitchFamily="18" charset="0"/>
                <a:ea typeface="Cambria" panose="02040503050406030204" pitchFamily="18" charset="0"/>
              </a:rPr>
              <a:t>Manual records or isolated tools</a:t>
            </a:r>
            <a:r>
              <a:rPr lang="en-US" sz="1900" dirty="0">
                <a:latin typeface="Cambria" panose="02040503050406030204" pitchFamily="18" charset="0"/>
                <a:ea typeface="Cambria" panose="02040503050406030204" pitchFamily="18" charset="0"/>
              </a:rPr>
              <a:t> for co-curricular and extra-curricular activities</a:t>
            </a:r>
          </a:p>
          <a:p>
            <a:pPr marL="76200" indent="0">
              <a:buNone/>
            </a:pPr>
            <a:r>
              <a:rPr lang="en-US" sz="1900" dirty="0">
                <a:latin typeface="Cambria" panose="02040503050406030204" pitchFamily="18" charset="0"/>
                <a:ea typeface="Cambria" panose="02040503050406030204" pitchFamily="18" charset="0"/>
              </a:rPr>
              <a:t>These systems work in isolation and do not provide a unified or verified view of a student’s overall development.</a:t>
            </a:r>
          </a:p>
          <a:p>
            <a:pPr marL="76200" indent="0">
              <a:buNone/>
            </a:pPr>
            <a:endParaRPr lang="en-US" sz="1900" dirty="0">
              <a:latin typeface="Cambria" panose="02040503050406030204" pitchFamily="18" charset="0"/>
              <a:ea typeface="Cambria" panose="02040503050406030204" pitchFamily="18" charset="0"/>
            </a:endParaRPr>
          </a:p>
          <a:p>
            <a:pPr marL="76200" indent="0">
              <a:buNone/>
            </a:pPr>
            <a:r>
              <a:rPr lang="en-US" sz="1900" b="1" dirty="0">
                <a:latin typeface="Cambria" panose="02040503050406030204" pitchFamily="18" charset="0"/>
                <a:ea typeface="Cambria" panose="02040503050406030204" pitchFamily="18" charset="0"/>
              </a:rPr>
              <a:t>Limitations Identified</a:t>
            </a:r>
          </a:p>
          <a:p>
            <a:r>
              <a:rPr lang="en-US" sz="1900" dirty="0">
                <a:latin typeface="Cambria" panose="02040503050406030204" pitchFamily="18" charset="0"/>
                <a:ea typeface="Cambria" panose="02040503050406030204" pitchFamily="18" charset="0"/>
              </a:rPr>
              <a:t>Academic and non-academic records are not linked</a:t>
            </a:r>
          </a:p>
          <a:p>
            <a:r>
              <a:rPr lang="en-US" sz="1900" dirty="0">
                <a:latin typeface="Cambria" panose="02040503050406030204" pitchFamily="18" charset="0"/>
                <a:ea typeface="Cambria" panose="02040503050406030204" pitchFamily="18" charset="0"/>
              </a:rPr>
              <a:t>Absence of a centralized student profile</a:t>
            </a:r>
          </a:p>
          <a:p>
            <a:r>
              <a:rPr lang="en-US" sz="1900" dirty="0">
                <a:latin typeface="Cambria" panose="02040503050406030204" pitchFamily="18" charset="0"/>
                <a:ea typeface="Cambria" panose="02040503050406030204" pitchFamily="18" charset="0"/>
              </a:rPr>
              <a:t>Lack of faculty validation reduces record reliability</a:t>
            </a:r>
          </a:p>
          <a:p>
            <a:r>
              <a:rPr lang="en-US" sz="1900" dirty="0">
                <a:latin typeface="Cambria" panose="02040503050406030204" pitchFamily="18" charset="0"/>
                <a:ea typeface="Cambria" panose="02040503050406030204" pitchFamily="18" charset="0"/>
              </a:rPr>
              <a:t>Manual data compilation for NAAC, AICTE, and NIRF reporting</a:t>
            </a:r>
          </a:p>
          <a:p>
            <a:r>
              <a:rPr lang="en-US" sz="1900" dirty="0">
                <a:latin typeface="Cambria" panose="02040503050406030204" pitchFamily="18" charset="0"/>
                <a:ea typeface="Cambria" panose="02040503050406030204" pitchFamily="18" charset="0"/>
              </a:rPr>
              <a:t>Students lack a credible portfolio for placements and higher studies</a:t>
            </a:r>
          </a:p>
        </p:txBody>
      </p:sp>
    </p:spTree>
    <p:extLst>
      <p:ext uri="{BB962C8B-B14F-4D97-AF65-F5344CB8AC3E}">
        <p14:creationId xmlns:p14="http://schemas.microsoft.com/office/powerpoint/2010/main" val="200045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r>
              <a:rPr lang="en-IN" sz="1800" b="1" dirty="0">
                <a:latin typeface="Cambria" panose="02040503050406030204" pitchFamily="18" charset="0"/>
                <a:ea typeface="Cambria" panose="02040503050406030204" pitchFamily="18" charset="0"/>
              </a:rPr>
              <a:t>Software Requirements:</a:t>
            </a:r>
            <a:endParaRPr lang="en-IN" sz="1800" dirty="0">
              <a:latin typeface="Cambria" panose="02040503050406030204" pitchFamily="18" charset="0"/>
              <a:ea typeface="Cambria" panose="02040503050406030204" pitchFamily="18" charset="0"/>
            </a:endParaRP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IDE:</a:t>
            </a:r>
            <a:r>
              <a:rPr lang="en-IN" sz="1800" dirty="0">
                <a:latin typeface="Cambria" panose="02040503050406030204" pitchFamily="18" charset="0"/>
                <a:ea typeface="Cambria" panose="02040503050406030204" pitchFamily="18" charset="0"/>
              </a:rPr>
              <a:t> Visual Studio Code</a:t>
            </a: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Runtime Environment:</a:t>
            </a:r>
            <a:r>
              <a:rPr lang="en-IN" sz="1800" dirty="0">
                <a:latin typeface="Cambria" panose="02040503050406030204" pitchFamily="18" charset="0"/>
                <a:ea typeface="Cambria" panose="02040503050406030204" pitchFamily="18" charset="0"/>
              </a:rPr>
              <a:t> Node.js (v18.x or later)</a:t>
            </a: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Frontend</a:t>
            </a:r>
            <a:r>
              <a:rPr lang="en-IN" sz="1800" dirty="0">
                <a:latin typeface="Cambria" panose="02040503050406030204" pitchFamily="18" charset="0"/>
                <a:ea typeface="Cambria" panose="02040503050406030204" pitchFamily="18" charset="0"/>
              </a:rPr>
              <a:t>: </a:t>
            </a:r>
            <a:r>
              <a:rPr lang="en-US" sz="1800" dirty="0">
                <a:latin typeface="Cambria" panose="02040503050406030204" pitchFamily="18" charset="0"/>
                <a:ea typeface="Cambria" panose="02040503050406030204" pitchFamily="18" charset="0"/>
              </a:rPr>
              <a:t>Next.js (TypeScript), Tailwind CSS</a:t>
            </a: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Backend: </a:t>
            </a:r>
            <a:r>
              <a:rPr lang="en-IN" sz="1800" dirty="0">
                <a:latin typeface="Cambria" panose="02040503050406030204" pitchFamily="18" charset="0"/>
                <a:ea typeface="Cambria" panose="02040503050406030204" pitchFamily="18" charset="0"/>
              </a:rPr>
              <a:t>MongoDB Server / MongoDB Atlas (Cloud)</a:t>
            </a:r>
            <a:endParaRPr lang="en-IN" sz="1800" b="1" dirty="0">
              <a:latin typeface="Cambria" panose="02040503050406030204" pitchFamily="18" charset="0"/>
              <a:ea typeface="Cambria" panose="02040503050406030204" pitchFamily="18" charset="0"/>
            </a:endParaRP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Email Service: </a:t>
            </a:r>
            <a:r>
              <a:rPr lang="en-IN" sz="1800" dirty="0">
                <a:latin typeface="Cambria" panose="02040503050406030204" pitchFamily="18" charset="0"/>
                <a:ea typeface="Cambria" panose="02040503050406030204" pitchFamily="18" charset="0"/>
              </a:rPr>
              <a:t>Brevo API</a:t>
            </a:r>
          </a:p>
          <a:p>
            <a:pPr lvl="1">
              <a:buFont typeface="Courier New" panose="02070309020205020404" pitchFamily="49" charset="0"/>
              <a:buChar char="o"/>
            </a:pPr>
            <a:r>
              <a:rPr lang="en-US" sz="1800" b="1" dirty="0">
                <a:latin typeface="Cambria" panose="02040503050406030204" pitchFamily="18" charset="0"/>
                <a:ea typeface="Cambria" panose="02040503050406030204" pitchFamily="18" charset="0"/>
              </a:rPr>
              <a:t>Authentication: </a:t>
            </a:r>
            <a:r>
              <a:rPr lang="en-US" sz="1800" dirty="0">
                <a:latin typeface="Cambria" panose="02040503050406030204" pitchFamily="18" charset="0"/>
                <a:ea typeface="Cambria" panose="02040503050406030204" pitchFamily="18" charset="0"/>
              </a:rPr>
              <a:t>JWT (</a:t>
            </a:r>
            <a:r>
              <a:rPr lang="en-US" sz="1800" dirty="0" err="1">
                <a:latin typeface="Cambria" panose="02040503050406030204" pitchFamily="18" charset="0"/>
                <a:ea typeface="Cambria" panose="02040503050406030204" pitchFamily="18" charset="0"/>
              </a:rPr>
              <a:t>HttpOnly</a:t>
            </a:r>
            <a:r>
              <a:rPr lang="en-US" sz="1800" dirty="0">
                <a:latin typeface="Cambria" panose="02040503050406030204" pitchFamily="18" charset="0"/>
                <a:ea typeface="Cambria" panose="02040503050406030204" pitchFamily="18" charset="0"/>
              </a:rPr>
              <a:t> cookies), </a:t>
            </a:r>
            <a:r>
              <a:rPr lang="en-US" sz="1800" dirty="0" err="1">
                <a:latin typeface="Cambria" panose="02040503050406030204" pitchFamily="18" charset="0"/>
                <a:ea typeface="Cambria" panose="02040503050406030204" pitchFamily="18" charset="0"/>
              </a:rPr>
              <a:t>bcrypt</a:t>
            </a:r>
            <a:endParaRPr lang="en-IN" sz="1800" dirty="0">
              <a:latin typeface="Cambria" panose="02040503050406030204" pitchFamily="18" charset="0"/>
              <a:ea typeface="Cambria" panose="02040503050406030204" pitchFamily="18" charset="0"/>
            </a:endParaRP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API Testing:</a:t>
            </a:r>
            <a:r>
              <a:rPr lang="en-IN" sz="1800" dirty="0">
                <a:latin typeface="Cambria" panose="02040503050406030204" pitchFamily="18" charset="0"/>
                <a:ea typeface="Cambria" panose="02040503050406030204" pitchFamily="18" charset="0"/>
              </a:rPr>
              <a:t> Postman </a:t>
            </a: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Design &amp; Prototyping:</a:t>
            </a:r>
            <a:r>
              <a:rPr lang="en-IN" sz="1800" dirty="0">
                <a:latin typeface="Cambria" panose="02040503050406030204" pitchFamily="18" charset="0"/>
                <a:ea typeface="Cambria" panose="02040503050406030204" pitchFamily="18" charset="0"/>
              </a:rPr>
              <a:t> Figma</a:t>
            </a:r>
          </a:p>
          <a:p>
            <a:pPr lvl="1">
              <a:buFont typeface="Courier New" panose="02070309020205020404" pitchFamily="49" charset="0"/>
              <a:buChar char="o"/>
            </a:pPr>
            <a:r>
              <a:rPr lang="en-IN" sz="1800" b="1" dirty="0">
                <a:latin typeface="Cambria" panose="02040503050406030204" pitchFamily="18" charset="0"/>
                <a:ea typeface="Cambria" panose="02040503050406030204" pitchFamily="18" charset="0"/>
              </a:rPr>
              <a:t>Version Control:</a:t>
            </a:r>
            <a:r>
              <a:rPr lang="en-IN" sz="1800" dirty="0">
                <a:latin typeface="Cambria" panose="02040503050406030204" pitchFamily="18" charset="0"/>
                <a:ea typeface="Cambria" panose="02040503050406030204" pitchFamily="18" charset="0"/>
              </a:rPr>
              <a:t> Git/</a:t>
            </a:r>
            <a:r>
              <a:rPr lang="en-IN" sz="1800" dirty="0" err="1">
                <a:latin typeface="Cambria" panose="02040503050406030204" pitchFamily="18" charset="0"/>
                <a:ea typeface="Cambria" panose="02040503050406030204" pitchFamily="18" charset="0"/>
              </a:rPr>
              <a:t>Github</a:t>
            </a:r>
            <a:endParaRPr lang="en-IN" sz="1800" dirty="0">
              <a:latin typeface="Cambria" panose="02040503050406030204" pitchFamily="18" charset="0"/>
              <a:ea typeface="Cambria" panose="02040503050406030204" pitchFamily="18" charset="0"/>
            </a:endParaRPr>
          </a:p>
          <a:p>
            <a:pPr marL="558800" lvl="1" indent="0">
              <a:buNone/>
            </a:pP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Hardware Requirements:</a:t>
            </a:r>
            <a:endParaRPr lang="en-IN" sz="1800" dirty="0">
              <a:latin typeface="Cambria" panose="02040503050406030204" pitchFamily="18" charset="0"/>
              <a:ea typeface="Cambria" panose="02040503050406030204" pitchFamily="18" charset="0"/>
            </a:endParaRPr>
          </a:p>
          <a:p>
            <a:pPr marL="558800" lvl="1" indent="0">
              <a:buNone/>
            </a:pPr>
            <a:r>
              <a:rPr lang="en-IN" sz="1800" dirty="0">
                <a:latin typeface="Cambria" panose="02040503050406030204" pitchFamily="18" charset="0"/>
                <a:ea typeface="Cambria" panose="02040503050406030204" pitchFamily="18" charset="0"/>
              </a:rPr>
              <a:t>No specialized hardware is required. A standard developer laptop with at least 8GB RAM and an internet connection is sufficient for development and deployment.</a:t>
            </a:r>
          </a:p>
        </p:txBody>
      </p:sp>
    </p:spTree>
    <p:extLst>
      <p:ext uri="{BB962C8B-B14F-4D97-AF65-F5344CB8AC3E}">
        <p14:creationId xmlns:p14="http://schemas.microsoft.com/office/powerpoint/2010/main" val="333883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1"/>
            <a:ext cx="10668000" cy="4759036"/>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1800" dirty="0">
                <a:latin typeface="Cambria" panose="02040503050406030204" pitchFamily="18" charset="0"/>
                <a:ea typeface="Cambria" panose="02040503050406030204" pitchFamily="18" charset="0"/>
              </a:rPr>
              <a:t>Smart Student Hub addresses these gaps by offering a </a:t>
            </a:r>
            <a:r>
              <a:rPr lang="en-US" sz="1800" b="1" dirty="0">
                <a:latin typeface="Cambria" panose="02040503050406030204" pitchFamily="18" charset="0"/>
                <a:ea typeface="Cambria" panose="02040503050406030204" pitchFamily="18" charset="0"/>
              </a:rPr>
              <a:t>centralized, verified, and role-based platform</a:t>
            </a:r>
            <a:r>
              <a:rPr lang="en-US" sz="1800" dirty="0">
                <a:latin typeface="Cambria" panose="02040503050406030204" pitchFamily="18" charset="0"/>
                <a:ea typeface="Cambria" panose="02040503050406030204" pitchFamily="18" charset="0"/>
              </a:rPr>
              <a:t> that manages the full student lifecycle.</a:t>
            </a:r>
          </a:p>
          <a:p>
            <a:pPr marL="76200" indent="0">
              <a:buNone/>
            </a:pPr>
            <a:endParaRPr lang="en-US" sz="1800" dirty="0">
              <a:latin typeface="Cambria" panose="02040503050406030204" pitchFamily="18" charset="0"/>
              <a:ea typeface="Cambria" panose="02040503050406030204" pitchFamily="18" charset="0"/>
            </a:endParaRPr>
          </a:p>
          <a:p>
            <a:pPr marL="76200" indent="0">
              <a:buNone/>
            </a:pPr>
            <a:r>
              <a:rPr lang="en-US" sz="1800" dirty="0">
                <a:latin typeface="Cambria" panose="02040503050406030204" pitchFamily="18" charset="0"/>
                <a:ea typeface="Cambria" panose="02040503050406030204" pitchFamily="18" charset="0"/>
              </a:rPr>
              <a:t>The chosen technology stack directly supports this goal:</a:t>
            </a:r>
          </a:p>
          <a:p>
            <a:r>
              <a:rPr lang="en-US" sz="1800" b="1" dirty="0">
                <a:latin typeface="Cambria" panose="02040503050406030204" pitchFamily="18" charset="0"/>
                <a:ea typeface="Cambria" panose="02040503050406030204" pitchFamily="18" charset="0"/>
              </a:rPr>
              <a:t>Next.js (TypeScript, Tailwind CSS)</a:t>
            </a:r>
            <a:r>
              <a:rPr lang="en-US" sz="1800" dirty="0">
                <a:latin typeface="Cambria" panose="02040503050406030204" pitchFamily="18" charset="0"/>
                <a:ea typeface="Cambria" panose="02040503050406030204" pitchFamily="18" charset="0"/>
              </a:rPr>
              <a:t> enables a fast, responsive dashboard for students and faculty</a:t>
            </a:r>
          </a:p>
          <a:p>
            <a:r>
              <a:rPr lang="en-US" sz="1800" b="1" dirty="0">
                <a:latin typeface="Cambria" panose="02040503050406030204" pitchFamily="18" charset="0"/>
                <a:ea typeface="Cambria" panose="02040503050406030204" pitchFamily="18" charset="0"/>
              </a:rPr>
              <a:t>MongoDB / MongoDB Atlas</a:t>
            </a:r>
            <a:r>
              <a:rPr lang="en-US" sz="1800" dirty="0">
                <a:latin typeface="Cambria" panose="02040503050406030204" pitchFamily="18" charset="0"/>
                <a:ea typeface="Cambria" panose="02040503050406030204" pitchFamily="18" charset="0"/>
              </a:rPr>
              <a:t> allows flexible storage of diverse academic and activity records</a:t>
            </a:r>
          </a:p>
          <a:p>
            <a:r>
              <a:rPr lang="en-US" sz="1800" b="1" dirty="0">
                <a:latin typeface="Cambria" panose="02040503050406030204" pitchFamily="18" charset="0"/>
                <a:ea typeface="Cambria" panose="02040503050406030204" pitchFamily="18" charset="0"/>
              </a:rPr>
              <a:t>JWT-based authentication with </a:t>
            </a:r>
            <a:r>
              <a:rPr lang="en-US" sz="1800" b="1" dirty="0" err="1">
                <a:latin typeface="Cambria" panose="02040503050406030204" pitchFamily="18" charset="0"/>
                <a:ea typeface="Cambria" panose="02040503050406030204" pitchFamily="18" charset="0"/>
              </a:rPr>
              <a:t>HttpOnly</a:t>
            </a:r>
            <a:r>
              <a:rPr lang="en-US" sz="1800" b="1" dirty="0">
                <a:latin typeface="Cambria" panose="02040503050406030204" pitchFamily="18" charset="0"/>
                <a:ea typeface="Cambria" panose="02040503050406030204" pitchFamily="18" charset="0"/>
              </a:rPr>
              <a:t> cookies and </a:t>
            </a:r>
            <a:r>
              <a:rPr lang="en-US" sz="1800" b="1" dirty="0" err="1">
                <a:latin typeface="Cambria" panose="02040503050406030204" pitchFamily="18" charset="0"/>
                <a:ea typeface="Cambria" panose="02040503050406030204" pitchFamily="18" charset="0"/>
              </a:rPr>
              <a:t>bcrypt</a:t>
            </a:r>
            <a:r>
              <a:rPr lang="en-US" sz="1800" dirty="0">
                <a:latin typeface="Cambria" panose="02040503050406030204" pitchFamily="18" charset="0"/>
                <a:ea typeface="Cambria" panose="02040503050406030204" pitchFamily="18" charset="0"/>
              </a:rPr>
              <a:t> ensures secure access and data integrity</a:t>
            </a:r>
          </a:p>
          <a:p>
            <a:r>
              <a:rPr lang="en-US" sz="1800" b="1" dirty="0">
                <a:latin typeface="Cambria" panose="02040503050406030204" pitchFamily="18" charset="0"/>
                <a:ea typeface="Cambria" panose="02040503050406030204" pitchFamily="18" charset="0"/>
              </a:rPr>
              <a:t>Brevo Email API</a:t>
            </a:r>
            <a:r>
              <a:rPr lang="en-US" sz="1800" dirty="0">
                <a:latin typeface="Cambria" panose="02040503050406030204" pitchFamily="18" charset="0"/>
                <a:ea typeface="Cambria" panose="02040503050406030204" pitchFamily="18" charset="0"/>
              </a:rPr>
              <a:t> supports secure onboarding and record-related notifications</a:t>
            </a:r>
          </a:p>
          <a:p>
            <a:r>
              <a:rPr lang="en-US" sz="1800" b="1" dirty="0">
                <a:latin typeface="Cambria" panose="02040503050406030204" pitchFamily="18" charset="0"/>
                <a:ea typeface="Cambria" panose="02040503050406030204" pitchFamily="18" charset="0"/>
              </a:rPr>
              <a:t>Postman and Git/GitHub</a:t>
            </a:r>
            <a:r>
              <a:rPr lang="en-US" sz="1800" dirty="0">
                <a:latin typeface="Cambria" panose="02040503050406030204" pitchFamily="18" charset="0"/>
                <a:ea typeface="Cambria" panose="02040503050406030204" pitchFamily="18" charset="0"/>
              </a:rPr>
              <a:t> support reliable development and collaboration</a:t>
            </a:r>
          </a:p>
          <a:p>
            <a:r>
              <a:rPr lang="en-US" sz="1800" b="1" dirty="0">
                <a:latin typeface="Cambria" panose="02040503050406030204" pitchFamily="18" charset="0"/>
                <a:ea typeface="Cambria" panose="02040503050406030204" pitchFamily="18" charset="0"/>
              </a:rPr>
              <a:t>Figma</a:t>
            </a:r>
            <a:r>
              <a:rPr lang="en-US" sz="1800" dirty="0">
                <a:latin typeface="Cambria" panose="02040503050406030204" pitchFamily="18" charset="0"/>
                <a:ea typeface="Cambria" panose="02040503050406030204" pitchFamily="18" charset="0"/>
              </a:rPr>
              <a:t> enables clear UI design for usability across users</a:t>
            </a:r>
          </a:p>
          <a:p>
            <a:pPr marL="76200" indent="0">
              <a:buNone/>
            </a:pPr>
            <a:endParaRPr lang="en-US" sz="1800" dirty="0">
              <a:latin typeface="Cambria" panose="02040503050406030204" pitchFamily="18" charset="0"/>
              <a:ea typeface="Cambria" panose="02040503050406030204" pitchFamily="18" charset="0"/>
            </a:endParaRPr>
          </a:p>
          <a:p>
            <a:pPr marL="76200" indent="0">
              <a:buNone/>
            </a:pPr>
            <a:r>
              <a:rPr lang="en-US" sz="1800" dirty="0">
                <a:latin typeface="Cambria" panose="02040503050406030204" pitchFamily="18" charset="0"/>
                <a:ea typeface="Cambria" panose="02040503050406030204" pitchFamily="18" charset="0"/>
              </a:rPr>
              <a:t>Existing solutions store data in silos, whereas Smart Student Hub integrates, verifies, and presents student achievements in a single platform. By using a modern, scalable, and secure technology stack, the system reduces administrative effort, improves transparency, and prepares students with verified profiles for academic and professional growth.</a:t>
            </a:r>
          </a:p>
          <a:p>
            <a:pPr marL="342900" lvl="0" indent="-190500" algn="just" rtl="0">
              <a:lnSpc>
                <a:spcPct val="200000"/>
              </a:lnSpc>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571500" y="274638"/>
            <a:ext cx="109093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Cambria" panose="02040503050406030204" pitchFamily="18" charset="0"/>
                <a:ea typeface="Cambria" panose="02040503050406030204" pitchFamily="18" charset="0"/>
              </a:rPr>
              <a:t>Proposed Method &amp; Feasibility Study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762000" y="1143001"/>
            <a:ext cx="10718800" cy="45719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buNone/>
            </a:pPr>
            <a:r>
              <a:rPr lang="en-US" sz="1800" b="1" dirty="0"/>
              <a:t>Proposed Method</a:t>
            </a:r>
          </a:p>
          <a:p>
            <a:r>
              <a:rPr lang="en-US" sz="1800" dirty="0"/>
              <a:t>Multi-tenant system using </a:t>
            </a:r>
            <a:r>
              <a:rPr lang="en-US" sz="1800" b="1" dirty="0"/>
              <a:t>AISHE-based isolation</a:t>
            </a:r>
            <a:endParaRPr lang="en-US" sz="1800" dirty="0"/>
          </a:p>
          <a:p>
            <a:r>
              <a:rPr lang="en-US" sz="1800" b="1" dirty="0" err="1"/>
              <a:t>FastAPI</a:t>
            </a:r>
            <a:r>
              <a:rPr lang="en-US" sz="1800" b="1" dirty="0"/>
              <a:t> + MongoDB + Next.js</a:t>
            </a:r>
            <a:r>
              <a:rPr lang="en-US" sz="1800" dirty="0"/>
              <a:t> architecture</a:t>
            </a:r>
          </a:p>
          <a:p>
            <a:r>
              <a:rPr lang="en-US" sz="1800" b="1" dirty="0"/>
              <a:t>JWT-based role authentication</a:t>
            </a:r>
            <a:endParaRPr lang="en-US" sz="1800" dirty="0"/>
          </a:p>
          <a:p>
            <a:r>
              <a:rPr lang="en-US" sz="1800" dirty="0"/>
              <a:t>Strict </a:t>
            </a:r>
            <a:r>
              <a:rPr lang="en-US" sz="1800" b="1" dirty="0"/>
              <a:t>role-based access control</a:t>
            </a:r>
            <a:endParaRPr lang="en-US" sz="1800" dirty="0"/>
          </a:p>
          <a:p>
            <a:r>
              <a:rPr lang="en-US" sz="1800" dirty="0"/>
              <a:t>University context resolved </a:t>
            </a:r>
            <a:r>
              <a:rPr lang="en-US" sz="1800" b="1" dirty="0"/>
              <a:t>server-side only</a:t>
            </a:r>
            <a:endParaRPr lang="en-US" sz="1800" dirty="0"/>
          </a:p>
          <a:p>
            <a:r>
              <a:rPr lang="en-US" sz="1800" dirty="0"/>
              <a:t>Secure document storage via </a:t>
            </a:r>
            <a:r>
              <a:rPr lang="en-US" sz="1800" b="1" dirty="0" err="1"/>
              <a:t>GridFS</a:t>
            </a:r>
            <a:endParaRPr lang="en-US" sz="1800" dirty="0"/>
          </a:p>
          <a:p>
            <a:r>
              <a:rPr lang="en-US" sz="1800" dirty="0"/>
              <a:t>Modular design for scalability</a:t>
            </a:r>
          </a:p>
          <a:p>
            <a:pPr marL="76200" indent="0">
              <a:buNone/>
            </a:pPr>
            <a:r>
              <a:rPr lang="en-US" sz="1800" b="1" dirty="0"/>
              <a:t>Feasibility Study</a:t>
            </a:r>
          </a:p>
          <a:p>
            <a:r>
              <a:rPr lang="en-US" sz="1800" b="1" dirty="0"/>
              <a:t>Technically feasible</a:t>
            </a:r>
            <a:r>
              <a:rPr lang="en-US" sz="1800" dirty="0"/>
              <a:t> using proven open-source stack</a:t>
            </a:r>
          </a:p>
          <a:p>
            <a:r>
              <a:rPr lang="en-US" sz="1800" b="1" dirty="0"/>
              <a:t>Operationally efficient</a:t>
            </a:r>
            <a:r>
              <a:rPr lang="en-US" sz="1800" dirty="0"/>
              <a:t> with role-specific dashboards</a:t>
            </a:r>
          </a:p>
          <a:p>
            <a:r>
              <a:rPr lang="en-US" sz="1800" b="1" dirty="0"/>
              <a:t>Cost-effective</a:t>
            </a:r>
            <a:r>
              <a:rPr lang="en-US" sz="1800" dirty="0"/>
              <a:t> (no licensing, low infrastructure cost)</a:t>
            </a:r>
          </a:p>
          <a:p>
            <a:r>
              <a:rPr lang="en-US" sz="1800" b="1" dirty="0"/>
              <a:t>Scalable</a:t>
            </a:r>
            <a:r>
              <a:rPr lang="en-US" sz="1800" dirty="0"/>
              <a:t> for multiple universities and future expansion</a:t>
            </a:r>
          </a:p>
        </p:txBody>
      </p:sp>
    </p:spTree>
    <p:extLst>
      <p:ext uri="{BB962C8B-B14F-4D97-AF65-F5344CB8AC3E}">
        <p14:creationId xmlns:p14="http://schemas.microsoft.com/office/powerpoint/2010/main" val="2856357337"/>
      </p:ext>
    </p:extLst>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a:extLst>
            <a:ext uri="{FF2B5EF4-FFF2-40B4-BE49-F238E27FC236}">
              <a16:creationId xmlns:a16="http://schemas.microsoft.com/office/drawing/2014/main" id="{CAD6AE86-71DB-A812-19C5-D473D1D31E5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64F6E019-6F5C-7FAE-1BD8-4EE5ACA20EA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a:extLst>
              <a:ext uri="{FF2B5EF4-FFF2-40B4-BE49-F238E27FC236}">
                <a16:creationId xmlns:a16="http://schemas.microsoft.com/office/drawing/2014/main" id="{842BA9AD-B06A-BF79-D878-0E23A84C37BE}"/>
              </a:ext>
            </a:extLst>
          </p:cNvPr>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B1ED8EAB-9890-41C5-357E-12A9CA922B5A}"/>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B74B260A-4904-A520-3A33-7308EFCE6B81}"/>
              </a:ext>
            </a:extLst>
          </p:cNvPr>
          <p:cNvSpPr txBox="1">
            <a:spLocks/>
          </p:cNvSpPr>
          <p:nvPr/>
        </p:nvSpPr>
        <p:spPr>
          <a:xfrm>
            <a:off x="762000" y="1143001"/>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E95D51E1-D2BE-EDF5-1862-8BFB2845773A}"/>
              </a:ext>
            </a:extLst>
          </p:cNvPr>
          <p:cNvPicPr>
            <a:picLocks noChangeAspect="1"/>
          </p:cNvPicPr>
          <p:nvPr/>
        </p:nvPicPr>
        <p:blipFill>
          <a:blip r:embed="rId4"/>
          <a:stretch>
            <a:fillRect/>
          </a:stretch>
        </p:blipFill>
        <p:spPr>
          <a:xfrm>
            <a:off x="1900710" y="914537"/>
            <a:ext cx="7863050" cy="5181464"/>
          </a:xfrm>
          <a:prstGeom prst="rect">
            <a:avLst/>
          </a:prstGeom>
        </p:spPr>
      </p:pic>
    </p:spTree>
    <p:extLst>
      <p:ext uri="{BB962C8B-B14F-4D97-AF65-F5344CB8AC3E}">
        <p14:creationId xmlns:p14="http://schemas.microsoft.com/office/powerpoint/2010/main" val="2530778464"/>
      </p:ext>
    </p:extLst>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2320D21-1728-1A04-B1E0-231E2857B9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80D1953-4FE6-9288-77AF-7CA39B8042A7}"/>
              </a:ext>
            </a:extLst>
          </p:cNvPr>
          <p:cNvSpPr txBox="1">
            <a:spLocks noGrp="1"/>
          </p:cNvSpPr>
          <p:nvPr>
            <p:ph type="title"/>
          </p:nvPr>
        </p:nvSpPr>
        <p:spPr>
          <a:xfrm>
            <a:off x="854826" y="280555"/>
            <a:ext cx="9941330" cy="1007918"/>
          </a:xfrm>
          <a:prstGeom prst="rect">
            <a:avLst/>
          </a:prstGeom>
          <a:noFill/>
          <a:ln>
            <a:noFill/>
          </a:ln>
        </p:spPr>
        <p:txBody>
          <a:bodyPr spcFirstLastPara="1" wrap="square" lIns="91425" tIns="45700" rIns="91425" bIns="45700" anchor="ctr" anchorCtr="0">
            <a:noAutofit/>
          </a:bodyPr>
          <a:lstStyle/>
          <a:p>
            <a:r>
              <a:rPr lang="en-IN" dirty="0"/>
              <a:t>Innovation or Novel Contributions</a:t>
            </a:r>
            <a:br>
              <a:rPr lang="en-IN" dirty="0"/>
            </a:b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4" name="Rectangle 3">
            <a:extLst>
              <a:ext uri="{FF2B5EF4-FFF2-40B4-BE49-F238E27FC236}">
                <a16:creationId xmlns:a16="http://schemas.microsoft.com/office/drawing/2014/main" id="{10C64DDB-3242-D058-73F0-0D4FAD35F224}"/>
              </a:ext>
            </a:extLst>
          </p:cNvPr>
          <p:cNvSpPr>
            <a:spLocks noChangeArrowheads="1"/>
          </p:cNvSpPr>
          <p:nvPr/>
        </p:nvSpPr>
        <p:spPr bwMode="auto">
          <a:xfrm>
            <a:off x="711200" y="1120695"/>
            <a:ext cx="1065784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Unified Student Profile System</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Introduces a single digital profile that combines academic performance with co-curricular and extra-curricular achievements across the entire student lifecycle.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Faculty-Verified Activity Records</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Adds a structured faculty/admin approval workflow to validate student-submitted activities, improving data credibility and trust.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Auto-Generated Digital Portfolios</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Enables students to generate verified portfolios in PDF or shareable link format for placements, scholarships, and higher studies.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Accreditation-Ready Analytics</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Provides institution-level analytics and structured reports tailored for NAAC, AICTE, and NIRF requirements, reducing manual reporting effort.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Role-Based, Secure Access Model</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Implements role-specific dashboards (Student, Faculty, Admin) with secure authentication to protect sensitive academic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Flexible and Scalable Architecture</a:t>
            </a:r>
            <a:br>
              <a:rPr kumimoji="0" lang="en-US" altLang="en-US" sz="1700" b="0" i="0" u="none" strike="noStrike" cap="none" normalizeH="0" baseline="0" dirty="0">
                <a:ln>
                  <a:noFill/>
                </a:ln>
                <a:solidFill>
                  <a:schemeClr val="tx1"/>
                </a:solidFill>
                <a:effectLst/>
                <a:latin typeface="Arial" panose="020B0604020202020204" pitchFamily="34" charset="0"/>
              </a:rPr>
            </a:br>
            <a:r>
              <a:rPr kumimoji="0" lang="en-US" altLang="en-US" sz="1700" b="0" i="0" u="none" strike="noStrike" cap="none" normalizeH="0" baseline="0" dirty="0">
                <a:ln>
                  <a:noFill/>
                </a:ln>
                <a:solidFill>
                  <a:schemeClr val="tx1"/>
                </a:solidFill>
                <a:effectLst/>
                <a:latin typeface="Arial" panose="020B0604020202020204" pitchFamily="34" charset="0"/>
              </a:rPr>
              <a:t>Designed using modern web technologies to support easy integration with existing ERP, LMS, and digital university platforms.</a:t>
            </a:r>
          </a:p>
        </p:txBody>
      </p:sp>
    </p:spTree>
    <p:extLst>
      <p:ext uri="{BB962C8B-B14F-4D97-AF65-F5344CB8AC3E}">
        <p14:creationId xmlns:p14="http://schemas.microsoft.com/office/powerpoint/2010/main" val="3245346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a:extLst>
            <a:ext uri="{FF2B5EF4-FFF2-40B4-BE49-F238E27FC236}">
              <a16:creationId xmlns:a16="http://schemas.microsoft.com/office/drawing/2014/main" id="{D3D759AA-3FC2-BFF4-9914-D13A8EAB8ED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F1EFA61-688A-8212-3469-8333C0E1EC3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a:extLst>
              <a:ext uri="{FF2B5EF4-FFF2-40B4-BE49-F238E27FC236}">
                <a16:creationId xmlns:a16="http://schemas.microsoft.com/office/drawing/2014/main" id="{1F84D1B3-F02B-1125-C967-500B670222AD}"/>
              </a:ext>
            </a:extLst>
          </p:cNvPr>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CD92B17F-A0B9-07C0-F4E2-48CD70E9A19D}"/>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AFC568AF-F08D-21F3-B864-35C3C37230AE}"/>
              </a:ext>
            </a:extLst>
          </p:cNvPr>
          <p:cNvSpPr txBox="1">
            <a:spLocks/>
          </p:cNvSpPr>
          <p:nvPr/>
        </p:nvSpPr>
        <p:spPr>
          <a:xfrm>
            <a:off x="762000" y="1143001"/>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1800" b="1" dirty="0">
                <a:solidFill>
                  <a:schemeClr val="tx1"/>
                </a:solidFill>
                <a:latin typeface="Cambria" panose="02040503050406030204" pitchFamily="18" charset="0"/>
                <a:ea typeface="Cambria" panose="02040503050406030204" pitchFamily="18" charset="0"/>
                <a:hlinkClick r:id="rId4"/>
              </a:rPr>
              <a:t>https://github.com/akanksha0322/CapstoneProject_CSE_151_SmartStudentHub</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6410117"/>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D212D729-355B-66D2-1785-3E5087FFF3F3}"/>
              </a:ext>
            </a:extLst>
          </p:cNvPr>
          <p:cNvPicPr>
            <a:picLocks noChangeAspect="1"/>
          </p:cNvPicPr>
          <p:nvPr/>
        </p:nvPicPr>
        <p:blipFill>
          <a:blip r:embed="rId4"/>
          <a:stretch>
            <a:fillRect/>
          </a:stretch>
        </p:blipFill>
        <p:spPr>
          <a:xfrm>
            <a:off x="2254826" y="1124296"/>
            <a:ext cx="7803573" cy="4682144"/>
          </a:xfrm>
          <a:prstGeom prst="rect">
            <a:avLst/>
          </a:prstGeom>
        </p:spPr>
      </p:pic>
    </p:spTree>
    <p:extLst>
      <p:ext uri="{BB962C8B-B14F-4D97-AF65-F5344CB8AC3E}">
        <p14:creationId xmlns:p14="http://schemas.microsoft.com/office/powerpoint/2010/main" val="479890276"/>
      </p:ext>
    </p:extLst>
  </p:cSld>
  <p:clrMapOvr>
    <a:overrideClrMapping bg1="lt1" tx1="dk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en-IN" sz="1500" dirty="0">
                <a:latin typeface="Cambria" panose="02040503050406030204" pitchFamily="18" charset="0"/>
                <a:ea typeface="Cambria" panose="02040503050406030204" pitchFamily="18" charset="0"/>
              </a:rPr>
              <a:t>[1] S. R. Kumbhar and P. R. Patil, “Development of Student Performance Tracking Apps,” </a:t>
            </a:r>
            <a:r>
              <a:rPr lang="en-IN" sz="1500" i="1" dirty="0">
                <a:latin typeface="Cambria" panose="02040503050406030204" pitchFamily="18" charset="0"/>
                <a:ea typeface="Cambria" panose="02040503050406030204" pitchFamily="18" charset="0"/>
              </a:rPr>
              <a:t>International Journal of Innovative Research in Science, Engineering and Technology</a:t>
            </a:r>
            <a:r>
              <a:rPr lang="en-IN" sz="1500" dirty="0">
                <a:latin typeface="Cambria" panose="02040503050406030204" pitchFamily="18" charset="0"/>
                <a:ea typeface="Cambria" panose="02040503050406030204" pitchFamily="18" charset="0"/>
              </a:rPr>
              <a:t>, 2020.</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latin typeface="Cambria" panose="02040503050406030204" pitchFamily="18" charset="0"/>
                <a:ea typeface="Cambria" panose="02040503050406030204" pitchFamily="18" charset="0"/>
                <a:hlinkClick r:id="rId3"/>
              </a:rPr>
              <a:t>https://www.researchgate.net/publication/338342446_Development_of_Student_Performance_Tracking_Apps</a:t>
            </a:r>
            <a:endParaRPr lang="en-IN" sz="15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IN" sz="1500" dirty="0">
                <a:latin typeface="Cambria" panose="02040503050406030204" pitchFamily="18" charset="0"/>
                <a:ea typeface="Cambria" panose="02040503050406030204" pitchFamily="18" charset="0"/>
              </a:rPr>
              <a:t>[2] M. Alqahtani, “Student’s Digital Portfolio for Assessing and Presenting Talents,” </a:t>
            </a:r>
            <a:r>
              <a:rPr lang="en-IN" sz="1500" i="1" dirty="0">
                <a:latin typeface="Cambria" panose="02040503050406030204" pitchFamily="18" charset="0"/>
                <a:ea typeface="Cambria" panose="02040503050406030204" pitchFamily="18" charset="0"/>
              </a:rPr>
              <a:t>International Journal of Emerging Technologies in Learning (</a:t>
            </a:r>
            <a:r>
              <a:rPr lang="en-IN" sz="1500" i="1" dirty="0" err="1">
                <a:latin typeface="Cambria" panose="02040503050406030204" pitchFamily="18" charset="0"/>
                <a:ea typeface="Cambria" panose="02040503050406030204" pitchFamily="18" charset="0"/>
              </a:rPr>
              <a:t>iJET</a:t>
            </a:r>
            <a:r>
              <a:rPr lang="en-IN" sz="1500" i="1" dirty="0">
                <a:latin typeface="Cambria" panose="02040503050406030204" pitchFamily="18" charset="0"/>
                <a:ea typeface="Cambria" panose="02040503050406030204" pitchFamily="18" charset="0"/>
              </a:rPr>
              <a:t>)</a:t>
            </a:r>
            <a:r>
              <a:rPr lang="en-IN" sz="1500" dirty="0">
                <a:latin typeface="Cambria" panose="02040503050406030204" pitchFamily="18" charset="0"/>
                <a:ea typeface="Cambria" panose="02040503050406030204" pitchFamily="18" charset="0"/>
              </a:rPr>
              <a:t>, 2020.</a:t>
            </a:r>
            <a:br>
              <a:rPr lang="en-IN" sz="1500" dirty="0">
                <a:latin typeface="Cambria" panose="02040503050406030204" pitchFamily="18" charset="0"/>
                <a:ea typeface="Cambria" panose="02040503050406030204" pitchFamily="18" charset="0"/>
              </a:rPr>
            </a:br>
            <a:r>
              <a:rPr lang="en-IN" sz="1500" dirty="0" err="1">
                <a:latin typeface="Cambria" panose="02040503050406030204" pitchFamily="18" charset="0"/>
                <a:ea typeface="Cambria" panose="02040503050406030204" pitchFamily="18" charset="0"/>
              </a:rPr>
              <a:t>Available:</a:t>
            </a:r>
            <a:r>
              <a:rPr lang="en-IN" sz="1500" dirty="0" err="1">
                <a:latin typeface="Cambria" panose="02040503050406030204" pitchFamily="18" charset="0"/>
                <a:ea typeface="Cambria" panose="02040503050406030204" pitchFamily="18" charset="0"/>
                <a:hlinkClick r:id="rId4"/>
              </a:rPr>
              <a:t>https</a:t>
            </a:r>
            <a:r>
              <a:rPr lang="en-IN" sz="1500" dirty="0">
                <a:latin typeface="Cambria" panose="02040503050406030204" pitchFamily="18" charset="0"/>
                <a:ea typeface="Cambria" panose="02040503050406030204" pitchFamily="18" charset="0"/>
                <a:hlinkClick r:id="rId4"/>
              </a:rPr>
              <a:t>://www.researchgate.net/publication/347529504_Student%27s_Digital_Portfolio_for_Assessing_and_Presenting_Talents</a:t>
            </a:r>
            <a:endParaRPr lang="en-IN" sz="15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IN" sz="1500" dirty="0">
                <a:latin typeface="Cambria" panose="02040503050406030204" pitchFamily="18" charset="0"/>
                <a:ea typeface="Cambria" panose="02040503050406030204" pitchFamily="18" charset="0"/>
              </a:rPr>
              <a:t>[3] M. González-Calatayud, J. Prendes-Espinosa, and P. Roig-Vila, “The Contribution of Digital Portfolios to Higher Education Students’ Autonomy and Digital Competence,” </a:t>
            </a:r>
            <a:r>
              <a:rPr lang="en-IN" sz="1500" i="1" dirty="0">
                <a:latin typeface="Cambria" panose="02040503050406030204" pitchFamily="18" charset="0"/>
                <a:ea typeface="Cambria" panose="02040503050406030204" pitchFamily="18" charset="0"/>
              </a:rPr>
              <a:t>Education Sciences</a:t>
            </a:r>
            <a:r>
              <a:rPr lang="en-IN" sz="1500" dirty="0">
                <a:latin typeface="Cambria" panose="02040503050406030204" pitchFamily="18" charset="0"/>
                <a:ea typeface="Cambria" panose="02040503050406030204" pitchFamily="18" charset="0"/>
              </a:rPr>
              <a:t>, vol. 13, no. 8, p. 829, Aug. 2023, </a:t>
            </a:r>
            <a:r>
              <a:rPr lang="en-IN" sz="1500" dirty="0" err="1">
                <a:latin typeface="Cambria" panose="02040503050406030204" pitchFamily="18" charset="0"/>
                <a:ea typeface="Cambria" panose="02040503050406030204" pitchFamily="18" charset="0"/>
              </a:rPr>
              <a:t>doi</a:t>
            </a:r>
            <a:r>
              <a:rPr lang="en-IN" sz="1500" dirty="0">
                <a:latin typeface="Cambria" panose="02040503050406030204" pitchFamily="18" charset="0"/>
                <a:ea typeface="Cambria" panose="02040503050406030204" pitchFamily="18" charset="0"/>
              </a:rPr>
              <a:t>: 10.3390/educsci13080829.</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latin typeface="Cambria" panose="02040503050406030204" pitchFamily="18" charset="0"/>
                <a:ea typeface="Cambria" panose="02040503050406030204" pitchFamily="18" charset="0"/>
                <a:hlinkClick r:id="rId5"/>
              </a:rPr>
              <a:t>https://www.researchgate.net/publication/373127588_The_Contribution_of_Digital_Portfolios_to_Higher_Education_Students%27_Autonomy_and_Digital_Competence</a:t>
            </a:r>
            <a:endParaRPr lang="en-IN" sz="15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IN" sz="1500" dirty="0">
                <a:latin typeface="Cambria" panose="02040503050406030204" pitchFamily="18" charset="0"/>
                <a:ea typeface="Cambria" panose="02040503050406030204" pitchFamily="18" charset="0"/>
              </a:rPr>
              <a:t>[4] J. L. D. Silva, R. L. Santos, and A. P. Costa, “Mixed-Method Study of Utilizing Portfolios to Document and Assess Co-Curricular Activities: Student and Advisor Perceptions,” </a:t>
            </a:r>
            <a:r>
              <a:rPr lang="en-IN" sz="1500" i="1" dirty="0">
                <a:latin typeface="Cambria" panose="02040503050406030204" pitchFamily="18" charset="0"/>
                <a:ea typeface="Cambria" panose="02040503050406030204" pitchFamily="18" charset="0"/>
              </a:rPr>
              <a:t>Journal of Educational Technology Systems</a:t>
            </a:r>
            <a:r>
              <a:rPr lang="en-IN" sz="1500" dirty="0">
                <a:latin typeface="Cambria" panose="02040503050406030204" pitchFamily="18" charset="0"/>
                <a:ea typeface="Cambria" panose="02040503050406030204" pitchFamily="18" charset="0"/>
              </a:rPr>
              <a:t>, 2019.</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latin typeface="Cambria" panose="02040503050406030204" pitchFamily="18" charset="0"/>
                <a:ea typeface="Cambria" panose="02040503050406030204" pitchFamily="18" charset="0"/>
                <a:hlinkClick r:id="rId6"/>
              </a:rPr>
              <a:t>https://www.researchgate.net/publication/338048191_Mixed-Method_Study_of_Utilizing_Portfolios_to_Document_and_Assess_Co-Curricular_Activities_Student_and_Advisor_Perceptions</a:t>
            </a:r>
            <a:endParaRPr lang="en-IN" sz="15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IN" sz="1500" dirty="0">
                <a:latin typeface="Cambria" panose="02040503050406030204" pitchFamily="18" charset="0"/>
                <a:ea typeface="Cambria" panose="02040503050406030204" pitchFamily="18" charset="0"/>
              </a:rPr>
              <a:t>[5] A. Sharma and R. Verma, “Review on Student Activities Monitoring System,” </a:t>
            </a:r>
            <a:r>
              <a:rPr lang="en-IN" sz="1500" i="1" dirty="0">
                <a:latin typeface="Cambria" panose="02040503050406030204" pitchFamily="18" charset="0"/>
                <a:ea typeface="Cambria" panose="02040503050406030204" pitchFamily="18" charset="0"/>
              </a:rPr>
              <a:t>International Journal for Research in Applied Science &amp; Engineering Technology (IJRASET)</a:t>
            </a:r>
            <a:r>
              <a:rPr lang="en-IN" sz="1500" dirty="0">
                <a:latin typeface="Cambria" panose="02040503050406030204" pitchFamily="18" charset="0"/>
                <a:ea typeface="Cambria" panose="02040503050406030204" pitchFamily="18" charset="0"/>
              </a:rPr>
              <a:t>, 2024.</a:t>
            </a:r>
            <a:br>
              <a:rPr lang="en-IN" sz="1500" dirty="0">
                <a:latin typeface="Cambria" panose="02040503050406030204" pitchFamily="18" charset="0"/>
                <a:ea typeface="Cambria" panose="02040503050406030204" pitchFamily="18" charset="0"/>
              </a:rPr>
            </a:br>
            <a:r>
              <a:rPr lang="en-IN" sz="1500" dirty="0">
                <a:latin typeface="Cambria" panose="02040503050406030204" pitchFamily="18" charset="0"/>
                <a:ea typeface="Cambria" panose="02040503050406030204" pitchFamily="18" charset="0"/>
              </a:rPr>
              <a:t>Available: </a:t>
            </a:r>
            <a:r>
              <a:rPr lang="en-IN" sz="1500" dirty="0">
                <a:latin typeface="Cambria" panose="02040503050406030204" pitchFamily="18" charset="0"/>
                <a:ea typeface="Cambria" panose="02040503050406030204" pitchFamily="18" charset="0"/>
                <a:hlinkClick r:id="rId7"/>
              </a:rPr>
              <a:t>https://www.researchgate.net/publication/389430770_Review_on_Student_Activities_Monitoring_System</a:t>
            </a:r>
            <a:endParaRPr lang="en-IN" sz="1500" dirty="0">
              <a:latin typeface="Cambria" panose="02040503050406030204" pitchFamily="18" charset="0"/>
              <a:ea typeface="Cambria" panose="02040503050406030204" pitchFamily="18" charset="0"/>
            </a:endParaRPr>
          </a:p>
          <a:p>
            <a:pPr marL="152400" indent="0">
              <a:spcBef>
                <a:spcPts val="0"/>
              </a:spcBef>
              <a:buNone/>
            </a:pPr>
            <a:endParaRPr sz="1500" dirty="0">
              <a:latin typeface="Cambria" panose="02040503050406030204" pitchFamily="18" charset="0"/>
              <a:ea typeface="Cambria" panose="020405030504060302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812</TotalTime>
  <Words>2737</Words>
  <Application>Microsoft Office PowerPoint</Application>
  <PresentationFormat>Widescreen</PresentationFormat>
  <Paragraphs>209</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Bioinformatics</vt:lpstr>
      <vt:lpstr>Centralised Digital Platform for Comprehensive student activity record in  Higher Education Institutions (HEIs)</vt:lpstr>
      <vt:lpstr>Problem Statement Number: SIH25093</vt:lpstr>
      <vt:lpstr>Content</vt:lpstr>
      <vt:lpstr>Problem Statement</vt:lpstr>
      <vt:lpstr>Objectives </vt:lpstr>
      <vt:lpstr>Research Papers for Literature Survey </vt:lpstr>
      <vt:lpstr>Research Papers for Literature Survey </vt:lpstr>
      <vt:lpstr>Analysis of Relevant Research Papers</vt:lpstr>
      <vt:lpstr>Analysis of Relevant Research Papers</vt:lpstr>
      <vt:lpstr>Analysis of Relevant Research Papers</vt:lpstr>
      <vt:lpstr>Background and Related Work</vt:lpstr>
      <vt:lpstr>Analysis of Problem Statement (contd...)</vt:lpstr>
      <vt:lpstr>Analysis of Problem Statement (contd...)</vt:lpstr>
      <vt:lpstr>Analysis of Problem Statement</vt:lpstr>
      <vt:lpstr>Proposed Method &amp; Feasibility Study</vt:lpstr>
      <vt:lpstr>Architecture Diagram</vt:lpstr>
      <vt:lpstr>Innovation or Novel Contributions  </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Akanksha Bhartiya</cp:lastModifiedBy>
  <cp:revision>46</cp:revision>
  <dcterms:modified xsi:type="dcterms:W3CDTF">2026-02-03T12:34:09Z</dcterms:modified>
</cp:coreProperties>
</file>